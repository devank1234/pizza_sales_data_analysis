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nton" charset="1" panose="00000500000000000000"/>
      <p:regular r:id="rId30"/>
    </p:embeddedFont>
    <p:embeddedFont>
      <p:font typeface="Poppins Bold" charset="1" panose="00000800000000000000"/>
      <p:regular r:id="rId31"/>
    </p:embeddedFont>
    <p:embeddedFont>
      <p:font typeface="Poppins"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7.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2.png" Type="http://schemas.openxmlformats.org/officeDocument/2006/relationships/image"/><Relationship Id="rId6" Target="../media/image5.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5.jpe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18.jpe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5.jpe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2.png" Type="http://schemas.openxmlformats.org/officeDocument/2006/relationships/image"/><Relationship Id="rId6" Target="../media/image5.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18.jpe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18.jpe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5.jpe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7.png" Type="http://schemas.openxmlformats.org/officeDocument/2006/relationships/image"/><Relationship Id="rId6"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7.png" Type="http://schemas.openxmlformats.org/officeDocument/2006/relationships/image"/><Relationship Id="rId6" Target="../media/image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0893938" y="4002479"/>
            <a:ext cx="11277162" cy="112771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3958748" y="-4415216"/>
            <a:ext cx="13673516" cy="1367351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931365" y="-1995988"/>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1749769" y="7408383"/>
            <a:ext cx="2249352" cy="1231009"/>
          </a:xfrm>
          <a:custGeom>
            <a:avLst/>
            <a:gdLst/>
            <a:ahLst/>
            <a:cxnLst/>
            <a:rect r="r" b="b" t="t" l="l"/>
            <a:pathLst>
              <a:path h="1231009" w="2249352">
                <a:moveTo>
                  <a:pt x="0" y="0"/>
                </a:moveTo>
                <a:lnTo>
                  <a:pt x="2249351" y="0"/>
                </a:lnTo>
                <a:lnTo>
                  <a:pt x="2249351" y="1231009"/>
                </a:lnTo>
                <a:lnTo>
                  <a:pt x="0" y="123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949738" y="7999921"/>
            <a:ext cx="8309562" cy="1641138"/>
          </a:xfrm>
          <a:custGeom>
            <a:avLst/>
            <a:gdLst/>
            <a:ahLst/>
            <a:cxnLst/>
            <a:rect r="r" b="b" t="t" l="l"/>
            <a:pathLst>
              <a:path h="1641138" w="8309562">
                <a:moveTo>
                  <a:pt x="0" y="0"/>
                </a:moveTo>
                <a:lnTo>
                  <a:pt x="8309562" y="0"/>
                </a:lnTo>
                <a:lnTo>
                  <a:pt x="8309562" y="1641139"/>
                </a:lnTo>
                <a:lnTo>
                  <a:pt x="0" y="1641139"/>
                </a:lnTo>
                <a:lnTo>
                  <a:pt x="0" y="0"/>
                </a:lnTo>
                <a:close/>
              </a:path>
            </a:pathLst>
          </a:custGeom>
          <a:blipFill>
            <a:blip r:embed="rId4"/>
            <a:stretch>
              <a:fillRect l="0" t="0" r="0" b="0"/>
            </a:stretch>
          </a:blipFill>
        </p:spPr>
      </p:sp>
      <p:sp>
        <p:nvSpPr>
          <p:cNvPr name="Freeform 13" id="13"/>
          <p:cNvSpPr/>
          <p:nvPr/>
        </p:nvSpPr>
        <p:spPr>
          <a:xfrm flipH="false" flipV="false" rot="-443208">
            <a:off x="8851940" y="2808763"/>
            <a:ext cx="9257949" cy="5878797"/>
          </a:xfrm>
          <a:custGeom>
            <a:avLst/>
            <a:gdLst/>
            <a:ahLst/>
            <a:cxnLst/>
            <a:rect r="r" b="b" t="t" l="l"/>
            <a:pathLst>
              <a:path h="5878797" w="9257949">
                <a:moveTo>
                  <a:pt x="0" y="0"/>
                </a:moveTo>
                <a:lnTo>
                  <a:pt x="9257948" y="0"/>
                </a:lnTo>
                <a:lnTo>
                  <a:pt x="9257948" y="5878797"/>
                </a:lnTo>
                <a:lnTo>
                  <a:pt x="0" y="5878797"/>
                </a:lnTo>
                <a:lnTo>
                  <a:pt x="0" y="0"/>
                </a:lnTo>
                <a:close/>
              </a:path>
            </a:pathLst>
          </a:custGeom>
          <a:blipFill>
            <a:blip r:embed="rId5"/>
            <a:stretch>
              <a:fillRect l="0" t="0" r="0" b="0"/>
            </a:stretch>
          </a:blipFill>
        </p:spPr>
      </p:sp>
      <p:sp>
        <p:nvSpPr>
          <p:cNvPr name="Freeform 14" id="14"/>
          <p:cNvSpPr/>
          <p:nvPr/>
        </p:nvSpPr>
        <p:spPr>
          <a:xfrm flipH="false" flipV="false" rot="0">
            <a:off x="16532519" y="3386974"/>
            <a:ext cx="2249352" cy="1231009"/>
          </a:xfrm>
          <a:custGeom>
            <a:avLst/>
            <a:gdLst/>
            <a:ahLst/>
            <a:cxnLst/>
            <a:rect r="r" b="b" t="t" l="l"/>
            <a:pathLst>
              <a:path h="1231009" w="2249352">
                <a:moveTo>
                  <a:pt x="0" y="0"/>
                </a:moveTo>
                <a:lnTo>
                  <a:pt x="2249351" y="0"/>
                </a:lnTo>
                <a:lnTo>
                  <a:pt x="2249351" y="1231009"/>
                </a:lnTo>
                <a:lnTo>
                  <a:pt x="0" y="123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066437" y="1549924"/>
            <a:ext cx="7652802" cy="6029325"/>
          </a:xfrm>
          <a:prstGeom prst="rect">
            <a:avLst/>
          </a:prstGeom>
        </p:spPr>
        <p:txBody>
          <a:bodyPr anchor="t" rtlCol="false" tIns="0" lIns="0" bIns="0" rIns="0">
            <a:spAutoFit/>
          </a:bodyPr>
          <a:lstStyle/>
          <a:p>
            <a:pPr algn="l" marL="0" indent="0" lvl="0">
              <a:lnSpc>
                <a:spcPts val="15600"/>
              </a:lnSpc>
            </a:pPr>
            <a:r>
              <a:rPr lang="en-US" sz="15000">
                <a:solidFill>
                  <a:srgbClr val="FFB000"/>
                </a:solidFill>
                <a:latin typeface="Anton"/>
                <a:ea typeface="Anton"/>
                <a:cs typeface="Anton"/>
                <a:sym typeface="Anton"/>
              </a:rPr>
              <a:t>PIZZA SALES ANALYSIS</a:t>
            </a:r>
          </a:p>
        </p:txBody>
      </p:sp>
      <p:sp>
        <p:nvSpPr>
          <p:cNvPr name="Freeform 16" id="16"/>
          <p:cNvSpPr/>
          <p:nvPr/>
        </p:nvSpPr>
        <p:spPr>
          <a:xfrm flipH="false" flipV="false" rot="-1691087">
            <a:off x="7175853" y="-2153656"/>
            <a:ext cx="4539987" cy="4307313"/>
          </a:xfrm>
          <a:custGeom>
            <a:avLst/>
            <a:gdLst/>
            <a:ahLst/>
            <a:cxnLst/>
            <a:rect r="r" b="b" t="t" l="l"/>
            <a:pathLst>
              <a:path h="4307313" w="4539987">
                <a:moveTo>
                  <a:pt x="0" y="0"/>
                </a:moveTo>
                <a:lnTo>
                  <a:pt x="4539987" y="0"/>
                </a:lnTo>
                <a:lnTo>
                  <a:pt x="4539987" y="4307312"/>
                </a:lnTo>
                <a:lnTo>
                  <a:pt x="0" y="4307312"/>
                </a:lnTo>
                <a:lnTo>
                  <a:pt x="0" y="0"/>
                </a:lnTo>
                <a:close/>
              </a:path>
            </a:pathLst>
          </a:custGeom>
          <a:blipFill>
            <a:blip r:embed="rId6"/>
            <a:stretch>
              <a:fillRect l="0" t="0" r="0" b="0"/>
            </a:stretch>
          </a:blipFill>
        </p:spPr>
      </p:sp>
      <p:grpSp>
        <p:nvGrpSpPr>
          <p:cNvPr name="Group 17" id="17"/>
          <p:cNvGrpSpPr/>
          <p:nvPr/>
        </p:nvGrpSpPr>
        <p:grpSpPr>
          <a:xfrm rot="0">
            <a:off x="11275355" y="902740"/>
            <a:ext cx="6226825" cy="856217"/>
            <a:chOff x="0" y="0"/>
            <a:chExt cx="1639987" cy="225506"/>
          </a:xfrm>
        </p:grpSpPr>
        <p:sp>
          <p:nvSpPr>
            <p:cNvPr name="Freeform 18" id="18"/>
            <p:cNvSpPr/>
            <p:nvPr/>
          </p:nvSpPr>
          <p:spPr>
            <a:xfrm flipH="false" flipV="false" rot="0">
              <a:off x="0" y="0"/>
              <a:ext cx="1639987" cy="225506"/>
            </a:xfrm>
            <a:custGeom>
              <a:avLst/>
              <a:gdLst/>
              <a:ahLst/>
              <a:cxnLst/>
              <a:rect r="r" b="b" t="t" l="l"/>
              <a:pathLst>
                <a:path h="225506" w="1639987">
                  <a:moveTo>
                    <a:pt x="112753" y="0"/>
                  </a:moveTo>
                  <a:lnTo>
                    <a:pt x="1527234" y="0"/>
                  </a:lnTo>
                  <a:cubicBezTo>
                    <a:pt x="1589505" y="0"/>
                    <a:pt x="1639987" y="50481"/>
                    <a:pt x="1639987" y="112753"/>
                  </a:cubicBezTo>
                  <a:lnTo>
                    <a:pt x="1639987" y="112753"/>
                  </a:lnTo>
                  <a:cubicBezTo>
                    <a:pt x="1639987" y="175025"/>
                    <a:pt x="1589505" y="225506"/>
                    <a:pt x="1527234" y="225506"/>
                  </a:cubicBezTo>
                  <a:lnTo>
                    <a:pt x="112753" y="225506"/>
                  </a:lnTo>
                  <a:cubicBezTo>
                    <a:pt x="50481" y="225506"/>
                    <a:pt x="0" y="175025"/>
                    <a:pt x="0" y="112753"/>
                  </a:cubicBezTo>
                  <a:lnTo>
                    <a:pt x="0" y="112753"/>
                  </a:lnTo>
                  <a:cubicBezTo>
                    <a:pt x="0" y="50481"/>
                    <a:pt x="50481" y="0"/>
                    <a:pt x="112753" y="0"/>
                  </a:cubicBezTo>
                  <a:close/>
                </a:path>
              </a:pathLst>
            </a:custGeom>
            <a:solidFill>
              <a:srgbClr val="FFB000"/>
            </a:solidFill>
          </p:spPr>
        </p:sp>
        <p:sp>
          <p:nvSpPr>
            <p:cNvPr name="TextBox 19" id="19"/>
            <p:cNvSpPr txBox="true"/>
            <p:nvPr/>
          </p:nvSpPr>
          <p:spPr>
            <a:xfrm>
              <a:off x="0" y="-57150"/>
              <a:ext cx="1639987" cy="282656"/>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11471481" y="1012115"/>
            <a:ext cx="5834572" cy="637467"/>
            <a:chOff x="0" y="0"/>
            <a:chExt cx="1536677" cy="167893"/>
          </a:xfrm>
        </p:grpSpPr>
        <p:sp>
          <p:nvSpPr>
            <p:cNvPr name="Freeform 21" id="21"/>
            <p:cNvSpPr/>
            <p:nvPr/>
          </p:nvSpPr>
          <p:spPr>
            <a:xfrm flipH="false" flipV="false" rot="0">
              <a:off x="0" y="0"/>
              <a:ext cx="1536677" cy="167893"/>
            </a:xfrm>
            <a:custGeom>
              <a:avLst/>
              <a:gdLst/>
              <a:ahLst/>
              <a:cxnLst/>
              <a:rect r="r" b="b" t="t" l="l"/>
              <a:pathLst>
                <a:path h="167893" w="1536677">
                  <a:moveTo>
                    <a:pt x="83946" y="0"/>
                  </a:moveTo>
                  <a:lnTo>
                    <a:pt x="1452731" y="0"/>
                  </a:lnTo>
                  <a:cubicBezTo>
                    <a:pt x="1499093" y="0"/>
                    <a:pt x="1536677" y="37584"/>
                    <a:pt x="1536677" y="83946"/>
                  </a:cubicBezTo>
                  <a:lnTo>
                    <a:pt x="1536677" y="83946"/>
                  </a:lnTo>
                  <a:cubicBezTo>
                    <a:pt x="1536677" y="130309"/>
                    <a:pt x="1499093" y="167893"/>
                    <a:pt x="1452731" y="167893"/>
                  </a:cubicBezTo>
                  <a:lnTo>
                    <a:pt x="83946" y="167893"/>
                  </a:lnTo>
                  <a:cubicBezTo>
                    <a:pt x="37584" y="167893"/>
                    <a:pt x="0" y="130309"/>
                    <a:pt x="0" y="83946"/>
                  </a:cubicBezTo>
                  <a:lnTo>
                    <a:pt x="0" y="83946"/>
                  </a:lnTo>
                  <a:cubicBezTo>
                    <a:pt x="0" y="37584"/>
                    <a:pt x="37584" y="0"/>
                    <a:pt x="83946" y="0"/>
                  </a:cubicBezTo>
                  <a:close/>
                </a:path>
              </a:pathLst>
            </a:custGeom>
            <a:solidFill>
              <a:srgbClr val="FFFFFF"/>
            </a:solidFill>
          </p:spPr>
        </p:sp>
        <p:sp>
          <p:nvSpPr>
            <p:cNvPr name="TextBox 22" id="22"/>
            <p:cNvSpPr txBox="true"/>
            <p:nvPr/>
          </p:nvSpPr>
          <p:spPr>
            <a:xfrm>
              <a:off x="0" y="-57150"/>
              <a:ext cx="1536677" cy="225043"/>
            </a:xfrm>
            <a:prstGeom prst="rect">
              <a:avLst/>
            </a:prstGeom>
          </p:spPr>
          <p:txBody>
            <a:bodyPr anchor="ctr" rtlCol="false" tIns="50800" lIns="50800" bIns="50800" rIns="50800"/>
            <a:lstStyle/>
            <a:p>
              <a:pPr algn="ctr">
                <a:lnSpc>
                  <a:spcPts val="2799"/>
                </a:lnSpc>
              </a:pPr>
              <a:r>
                <a:rPr lang="en-US" b="true" sz="1999">
                  <a:solidFill>
                    <a:srgbClr val="000000"/>
                  </a:solidFill>
                  <a:latin typeface="Poppins Bold"/>
                  <a:ea typeface="Poppins Bold"/>
                  <a:cs typeface="Poppins Bold"/>
                  <a:sym typeface="Poppins Bold"/>
                </a:rPr>
                <a:t>Presented by Devank Verma</a:t>
              </a:r>
            </a:p>
          </p:txBody>
        </p:sp>
      </p:grpSp>
      <p:grpSp>
        <p:nvGrpSpPr>
          <p:cNvPr name="Group 23" id="23"/>
          <p:cNvGrpSpPr/>
          <p:nvPr/>
        </p:nvGrpSpPr>
        <p:grpSpPr>
          <a:xfrm rot="0">
            <a:off x="1066437" y="8639392"/>
            <a:ext cx="176597" cy="17659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TextBox 26" id="26"/>
          <p:cNvSpPr txBox="true"/>
          <p:nvPr/>
        </p:nvSpPr>
        <p:spPr>
          <a:xfrm rot="0">
            <a:off x="1558882" y="8436959"/>
            <a:ext cx="7585118" cy="473845"/>
          </a:xfrm>
          <a:prstGeom prst="rect">
            <a:avLst/>
          </a:prstGeom>
        </p:spPr>
        <p:txBody>
          <a:bodyPr anchor="t" rtlCol="false" tIns="0" lIns="0" bIns="0" rIns="0">
            <a:spAutoFit/>
          </a:bodyPr>
          <a:lstStyle/>
          <a:p>
            <a:pPr algn="l">
              <a:lnSpc>
                <a:spcPts val="3919"/>
              </a:lnSpc>
            </a:pPr>
            <a:r>
              <a:rPr lang="en-US" sz="2305" spc="615">
                <a:solidFill>
                  <a:srgbClr val="FFFFFF"/>
                </a:solidFill>
                <a:latin typeface="Poppins"/>
                <a:ea typeface="Poppins"/>
                <a:cs typeface="Poppins"/>
                <a:sym typeface="Poppins"/>
              </a:rPr>
              <a:t>WHERE EVERY SLICE TELLS A STORY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7259300" y="2638276"/>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4752131" y="4181326"/>
            <a:ext cx="12667454" cy="12078353"/>
            <a:chOff x="0" y="0"/>
            <a:chExt cx="812800" cy="775001"/>
          </a:xfrm>
        </p:grpSpPr>
        <p:sp>
          <p:nvSpPr>
            <p:cNvPr name="Freeform 9" id="9"/>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10" id="10"/>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11" id="11"/>
          <p:cNvSpPr/>
          <p:nvPr/>
        </p:nvSpPr>
        <p:spPr>
          <a:xfrm flipH="false" flipV="false" rot="0">
            <a:off x="614537" y="2319355"/>
            <a:ext cx="8239900" cy="8229600"/>
          </a:xfrm>
          <a:custGeom>
            <a:avLst/>
            <a:gdLst/>
            <a:ahLst/>
            <a:cxnLst/>
            <a:rect r="r" b="b" t="t" l="l"/>
            <a:pathLst>
              <a:path h="8229600" w="8239900">
                <a:moveTo>
                  <a:pt x="0" y="0"/>
                </a:moveTo>
                <a:lnTo>
                  <a:pt x="8239900" y="0"/>
                </a:lnTo>
                <a:lnTo>
                  <a:pt x="8239900" y="8229600"/>
                </a:lnTo>
                <a:lnTo>
                  <a:pt x="0" y="8229600"/>
                </a:lnTo>
                <a:lnTo>
                  <a:pt x="0" y="0"/>
                </a:lnTo>
                <a:close/>
              </a:path>
            </a:pathLst>
          </a:custGeom>
          <a:blipFill>
            <a:blip r:embed="rId2"/>
            <a:stretch>
              <a:fillRect l="0" t="0" r="0" b="0"/>
            </a:stretch>
          </a:blipFill>
        </p:spPr>
      </p:sp>
      <p:sp>
        <p:nvSpPr>
          <p:cNvPr name="Freeform 12" id="12"/>
          <p:cNvSpPr/>
          <p:nvPr/>
        </p:nvSpPr>
        <p:spPr>
          <a:xfrm flipH="false" flipV="false" rot="0">
            <a:off x="-1386147" y="2319355"/>
            <a:ext cx="2249352" cy="1231009"/>
          </a:xfrm>
          <a:custGeom>
            <a:avLst/>
            <a:gdLst/>
            <a:ahLst/>
            <a:cxnLst/>
            <a:rect r="r" b="b" t="t" l="l"/>
            <a:pathLst>
              <a:path h="1231009" w="2249352">
                <a:moveTo>
                  <a:pt x="0" y="0"/>
                </a:moveTo>
                <a:lnTo>
                  <a:pt x="2249351" y="0"/>
                </a:lnTo>
                <a:lnTo>
                  <a:pt x="2249351" y="1231009"/>
                </a:lnTo>
                <a:lnTo>
                  <a:pt x="0" y="12310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445243" y="2319355"/>
            <a:ext cx="7277380" cy="6938945"/>
            <a:chOff x="0" y="0"/>
            <a:chExt cx="812800" cy="775001"/>
          </a:xfrm>
        </p:grpSpPr>
        <p:sp>
          <p:nvSpPr>
            <p:cNvPr name="Freeform 14" id="14"/>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FFFF"/>
            </a:solidFill>
          </p:spPr>
        </p:sp>
        <p:sp>
          <p:nvSpPr>
            <p:cNvPr name="TextBox 15" id="15"/>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16" id="16"/>
          <p:cNvSpPr/>
          <p:nvPr/>
        </p:nvSpPr>
        <p:spPr>
          <a:xfrm flipH="false" flipV="false" rot="0">
            <a:off x="1591121" y="2492818"/>
            <a:ext cx="7004674" cy="6572970"/>
          </a:xfrm>
          <a:custGeom>
            <a:avLst/>
            <a:gdLst/>
            <a:ahLst/>
            <a:cxnLst/>
            <a:rect r="r" b="b" t="t" l="l"/>
            <a:pathLst>
              <a:path h="6572970" w="7004674">
                <a:moveTo>
                  <a:pt x="0" y="0"/>
                </a:moveTo>
                <a:lnTo>
                  <a:pt x="7004673" y="0"/>
                </a:lnTo>
                <a:lnTo>
                  <a:pt x="7004673" y="6572969"/>
                </a:lnTo>
                <a:lnTo>
                  <a:pt x="0" y="6572969"/>
                </a:lnTo>
                <a:lnTo>
                  <a:pt x="0" y="0"/>
                </a:lnTo>
                <a:close/>
              </a:path>
            </a:pathLst>
          </a:custGeom>
          <a:blipFill>
            <a:blip r:embed="rId5"/>
            <a:stretch>
              <a:fillRect l="0" t="-1285" r="0" b="-1285"/>
            </a:stretch>
          </a:blipFill>
        </p:spPr>
      </p:sp>
      <p:sp>
        <p:nvSpPr>
          <p:cNvPr name="Freeform 17" id="17"/>
          <p:cNvSpPr/>
          <p:nvPr/>
        </p:nvSpPr>
        <p:spPr>
          <a:xfrm flipH="false" flipV="false" rot="3477770">
            <a:off x="5056692" y="7481852"/>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6"/>
            <a:stretch>
              <a:fillRect l="0" t="0" r="0" b="0"/>
            </a:stretch>
          </a:blipFill>
        </p:spPr>
      </p:sp>
      <p:sp>
        <p:nvSpPr>
          <p:cNvPr name="Freeform 18" id="18"/>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1951749" y="1122903"/>
            <a:ext cx="927891" cy="358701"/>
          </a:xfrm>
          <a:prstGeom prst="rect">
            <a:avLst/>
          </a:prstGeom>
        </p:spPr>
        <p:txBody>
          <a:bodyPr anchor="t" rtlCol="false" tIns="0" lIns="0" bIns="0" rIns="0">
            <a:spAutoFit/>
          </a:bodyPr>
          <a:lstStyle/>
          <a:p>
            <a:pPr algn="ctr">
              <a:lnSpc>
                <a:spcPts val="2799"/>
              </a:lnSpc>
              <a:spcBef>
                <a:spcPct val="0"/>
              </a:spcBef>
            </a:pPr>
            <a:r>
              <a:rPr lang="en-US" b="true" sz="1999">
                <a:solidFill>
                  <a:srgbClr val="340808"/>
                </a:solidFill>
                <a:latin typeface="Poppins Bold"/>
                <a:ea typeface="Poppins Bold"/>
                <a:cs typeface="Poppins Bold"/>
                <a:sym typeface="Poppins Bold"/>
              </a:rPr>
              <a:t>Home</a:t>
            </a:r>
          </a:p>
        </p:txBody>
      </p:sp>
      <p:sp>
        <p:nvSpPr>
          <p:cNvPr name="TextBox 20" id="20"/>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21" id="21"/>
          <p:cNvSpPr txBox="true"/>
          <p:nvPr/>
        </p:nvSpPr>
        <p:spPr>
          <a:xfrm rot="0">
            <a:off x="9764574" y="1998647"/>
            <a:ext cx="7494726" cy="7902575"/>
          </a:xfrm>
          <a:prstGeom prst="rect">
            <a:avLst/>
          </a:prstGeom>
        </p:spPr>
        <p:txBody>
          <a:bodyPr anchor="t" rtlCol="false" tIns="0" lIns="0" bIns="0" rIns="0">
            <a:spAutoFit/>
          </a:bodyPr>
          <a:lstStyle/>
          <a:p>
            <a:pPr algn="l">
              <a:lnSpc>
                <a:spcPts val="3909"/>
              </a:lnSpc>
            </a:pPr>
            <a:r>
              <a:rPr lang="en-US" sz="2299">
                <a:solidFill>
                  <a:srgbClr val="FFFFFF">
                    <a:alpha val="80000"/>
                  </a:srgbClr>
                </a:solidFill>
                <a:latin typeface="Poppins"/>
                <a:ea typeface="Poppins"/>
                <a:cs typeface="Poppins"/>
                <a:sym typeface="Poppins"/>
              </a:rPr>
              <a:t>In today’s data-driven world, understanding customer behavior and sales trends is crucial for business success, especially in the highly competitive food industry. This project focuses on analyzing pizza sales data to extract meaningful insights that can drive informed business decisions. Using structured SQL queries, key metrics such as top-selling pizzas, peak order times, and revenue distribution were identified. These insights were then visualized using Power BI, resulting in an interactive and dynamic dashboard. The aim of this project is to demonstrate how raw data can be transformed into actionable insights through the integration of data analysis and business intelligence tools.</a:t>
            </a:r>
          </a:p>
          <a:p>
            <a:pPr algn="l">
              <a:lnSpc>
                <a:spcPts val="3909"/>
              </a:lnSpc>
            </a:pPr>
          </a:p>
        </p:txBody>
      </p:sp>
      <p:sp>
        <p:nvSpPr>
          <p:cNvPr name="TextBox 22" id="22"/>
          <p:cNvSpPr txBox="true"/>
          <p:nvPr/>
        </p:nvSpPr>
        <p:spPr>
          <a:xfrm rot="0">
            <a:off x="9337883" y="365442"/>
            <a:ext cx="9211995" cy="1602741"/>
          </a:xfrm>
          <a:prstGeom prst="rect">
            <a:avLst/>
          </a:prstGeom>
        </p:spPr>
        <p:txBody>
          <a:bodyPr anchor="t" rtlCol="false" tIns="0" lIns="0" bIns="0" rIns="0">
            <a:spAutoFit/>
          </a:bodyPr>
          <a:lstStyle/>
          <a:p>
            <a:pPr algn="l" marL="0" indent="0" lvl="0">
              <a:lnSpc>
                <a:spcPts val="11909"/>
              </a:lnSpc>
              <a:spcBef>
                <a:spcPct val="0"/>
              </a:spcBef>
            </a:pPr>
            <a:r>
              <a:rPr lang="en-US" sz="12405">
                <a:solidFill>
                  <a:srgbClr val="FFB000"/>
                </a:solidFill>
                <a:latin typeface="Anton"/>
                <a:ea typeface="Anton"/>
                <a:cs typeface="Anton"/>
                <a:sym typeface="Anton"/>
              </a:rPr>
              <a:t>INTRODUCTUION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sp>
        <p:nvSpPr>
          <p:cNvPr name="Freeform 5" id="5"/>
          <p:cNvSpPr/>
          <p:nvPr/>
        </p:nvSpPr>
        <p:spPr>
          <a:xfrm flipH="false" flipV="false" rot="-9400788">
            <a:off x="-2607949" y="1751382"/>
            <a:ext cx="4539987" cy="4307313"/>
          </a:xfrm>
          <a:custGeom>
            <a:avLst/>
            <a:gdLst/>
            <a:ahLst/>
            <a:cxnLst/>
            <a:rect r="r" b="b" t="t" l="l"/>
            <a:pathLst>
              <a:path h="4307313" w="4539987">
                <a:moveTo>
                  <a:pt x="0" y="0"/>
                </a:moveTo>
                <a:lnTo>
                  <a:pt x="4539987" y="0"/>
                </a:lnTo>
                <a:lnTo>
                  <a:pt x="4539987" y="4307312"/>
                </a:lnTo>
                <a:lnTo>
                  <a:pt x="0" y="4307312"/>
                </a:lnTo>
                <a:lnTo>
                  <a:pt x="0" y="0"/>
                </a:lnTo>
                <a:close/>
              </a:path>
            </a:pathLst>
          </a:custGeom>
          <a:blipFill>
            <a:blip r:embed="rId2"/>
            <a:stretch>
              <a:fillRect l="0" t="0" r="0" b="0"/>
            </a:stretch>
          </a:blipFill>
        </p:spPr>
      </p:sp>
      <p:sp>
        <p:nvSpPr>
          <p:cNvPr name="Freeform 6" id="6"/>
          <p:cNvSpPr/>
          <p:nvPr/>
        </p:nvSpPr>
        <p:spPr>
          <a:xfrm flipH="false" flipV="false" rot="0">
            <a:off x="6400110" y="-615504"/>
            <a:ext cx="2249352" cy="1231009"/>
          </a:xfrm>
          <a:custGeom>
            <a:avLst/>
            <a:gdLst/>
            <a:ahLst/>
            <a:cxnLst/>
            <a:rect r="r" b="b" t="t" l="l"/>
            <a:pathLst>
              <a:path h="1231009" w="2249352">
                <a:moveTo>
                  <a:pt x="0" y="0"/>
                </a:moveTo>
                <a:lnTo>
                  <a:pt x="2249351" y="0"/>
                </a:lnTo>
                <a:lnTo>
                  <a:pt x="2249351"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183702" y="4373740"/>
            <a:ext cx="2908239" cy="290823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30971" t="0" r="-30971" b="0"/>
              </a:stretch>
            </a:blipFill>
            <a:ln w="85725" cap="sq">
              <a:solidFill>
                <a:srgbClr val="FFFFFF"/>
              </a:solidFill>
              <a:prstDash val="solid"/>
              <a:miter/>
            </a:ln>
          </p:spPr>
        </p:sp>
      </p:grpSp>
      <p:grpSp>
        <p:nvGrpSpPr>
          <p:cNvPr name="Group 9" id="9"/>
          <p:cNvGrpSpPr/>
          <p:nvPr/>
        </p:nvGrpSpPr>
        <p:grpSpPr>
          <a:xfrm rot="0">
            <a:off x="4116443" y="6095252"/>
            <a:ext cx="951410" cy="95141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16379369" y="8743950"/>
            <a:ext cx="3086100" cy="30861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15" id="15"/>
          <p:cNvGrpSpPr/>
          <p:nvPr/>
        </p:nvGrpSpPr>
        <p:grpSpPr>
          <a:xfrm rot="0">
            <a:off x="12545841" y="4373740"/>
            <a:ext cx="2908239" cy="290823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38999" t="0" r="-38999" b="0"/>
              </a:stretch>
            </a:blipFill>
            <a:ln w="85725" cap="sq">
              <a:solidFill>
                <a:srgbClr val="FFFFFF"/>
              </a:solidFill>
              <a:prstDash val="solid"/>
              <a:miter/>
            </a:ln>
          </p:spPr>
        </p:sp>
      </p:grpSp>
      <p:grpSp>
        <p:nvGrpSpPr>
          <p:cNvPr name="Group 17" id="17"/>
          <p:cNvGrpSpPr/>
          <p:nvPr/>
        </p:nvGrpSpPr>
        <p:grpSpPr>
          <a:xfrm rot="0">
            <a:off x="12233413" y="6100322"/>
            <a:ext cx="951410" cy="95141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TextBox 20" id="20"/>
          <p:cNvSpPr txBox="true"/>
          <p:nvPr/>
        </p:nvSpPr>
        <p:spPr>
          <a:xfrm rot="0">
            <a:off x="3375098" y="1304925"/>
            <a:ext cx="11537805" cy="1606845"/>
          </a:xfrm>
          <a:prstGeom prst="rect">
            <a:avLst/>
          </a:prstGeom>
        </p:spPr>
        <p:txBody>
          <a:bodyPr anchor="t" rtlCol="false" tIns="0" lIns="0" bIns="0" rIns="0">
            <a:spAutoFit/>
          </a:bodyPr>
          <a:lstStyle/>
          <a:p>
            <a:pPr algn="ctr" marL="0" indent="0" lvl="0">
              <a:lnSpc>
                <a:spcPts val="11909"/>
              </a:lnSpc>
              <a:spcBef>
                <a:spcPct val="0"/>
              </a:spcBef>
            </a:pPr>
            <a:r>
              <a:rPr lang="en-US" sz="12405">
                <a:solidFill>
                  <a:srgbClr val="FFB000"/>
                </a:solidFill>
                <a:latin typeface="Anton"/>
                <a:ea typeface="Anton"/>
                <a:cs typeface="Anton"/>
                <a:sym typeface="Anton"/>
              </a:rPr>
              <a:t>TOOLS USED</a:t>
            </a:r>
          </a:p>
        </p:txBody>
      </p:sp>
      <p:sp>
        <p:nvSpPr>
          <p:cNvPr name="TextBox 21" id="21"/>
          <p:cNvSpPr txBox="true"/>
          <p:nvPr/>
        </p:nvSpPr>
        <p:spPr>
          <a:xfrm rot="0">
            <a:off x="3825740" y="7482810"/>
            <a:ext cx="3699045" cy="472721"/>
          </a:xfrm>
          <a:prstGeom prst="rect">
            <a:avLst/>
          </a:prstGeom>
        </p:spPr>
        <p:txBody>
          <a:bodyPr anchor="t" rtlCol="false" tIns="0" lIns="0" bIns="0" rIns="0">
            <a:spAutoFit/>
          </a:bodyPr>
          <a:lstStyle/>
          <a:p>
            <a:pPr algn="ctr">
              <a:lnSpc>
                <a:spcPts val="3919"/>
              </a:lnSpc>
            </a:pPr>
            <a:r>
              <a:rPr lang="en-US" sz="2305" spc="615">
                <a:solidFill>
                  <a:srgbClr val="FFFFFF"/>
                </a:solidFill>
                <a:latin typeface="Poppins"/>
                <a:ea typeface="Poppins"/>
                <a:cs typeface="Poppins"/>
                <a:sym typeface="Poppins"/>
              </a:rPr>
              <a:t>MYSQL</a:t>
            </a:r>
          </a:p>
        </p:txBody>
      </p:sp>
      <p:sp>
        <p:nvSpPr>
          <p:cNvPr name="TextBox 22" id="22"/>
          <p:cNvSpPr txBox="true"/>
          <p:nvPr/>
        </p:nvSpPr>
        <p:spPr>
          <a:xfrm rot="0">
            <a:off x="4196233" y="6245460"/>
            <a:ext cx="791832" cy="565885"/>
          </a:xfrm>
          <a:prstGeom prst="rect">
            <a:avLst/>
          </a:prstGeom>
        </p:spPr>
        <p:txBody>
          <a:bodyPr anchor="t" rtlCol="false" tIns="0" lIns="0" bIns="0" rIns="0">
            <a:spAutoFit/>
          </a:bodyPr>
          <a:lstStyle/>
          <a:p>
            <a:pPr algn="ctr">
              <a:lnSpc>
                <a:spcPts val="4369"/>
              </a:lnSpc>
              <a:spcBef>
                <a:spcPct val="0"/>
              </a:spcBef>
            </a:pPr>
            <a:r>
              <a:rPr lang="en-US" b="true" sz="3121">
                <a:solidFill>
                  <a:srgbClr val="340808"/>
                </a:solidFill>
                <a:latin typeface="Poppins Bold"/>
                <a:ea typeface="Poppins Bold"/>
                <a:cs typeface="Poppins Bold"/>
                <a:sym typeface="Poppins Bold"/>
              </a:rPr>
              <a:t>01</a:t>
            </a:r>
          </a:p>
        </p:txBody>
      </p:sp>
      <p:sp>
        <p:nvSpPr>
          <p:cNvPr name="TextBox 23" id="23"/>
          <p:cNvSpPr txBox="true"/>
          <p:nvPr/>
        </p:nvSpPr>
        <p:spPr>
          <a:xfrm rot="0">
            <a:off x="12233413" y="7482810"/>
            <a:ext cx="3699045" cy="472721"/>
          </a:xfrm>
          <a:prstGeom prst="rect">
            <a:avLst/>
          </a:prstGeom>
        </p:spPr>
        <p:txBody>
          <a:bodyPr anchor="t" rtlCol="false" tIns="0" lIns="0" bIns="0" rIns="0">
            <a:spAutoFit/>
          </a:bodyPr>
          <a:lstStyle/>
          <a:p>
            <a:pPr algn="ctr">
              <a:lnSpc>
                <a:spcPts val="3919"/>
              </a:lnSpc>
            </a:pPr>
            <a:r>
              <a:rPr lang="en-US" sz="2305" spc="615">
                <a:solidFill>
                  <a:srgbClr val="FFFFFF"/>
                </a:solidFill>
                <a:latin typeface="Poppins"/>
                <a:ea typeface="Poppins"/>
                <a:cs typeface="Poppins"/>
                <a:sym typeface="Poppins"/>
              </a:rPr>
              <a:t>POWERBI</a:t>
            </a:r>
          </a:p>
        </p:txBody>
      </p:sp>
      <p:sp>
        <p:nvSpPr>
          <p:cNvPr name="TextBox 24" id="24"/>
          <p:cNvSpPr txBox="true"/>
          <p:nvPr/>
        </p:nvSpPr>
        <p:spPr>
          <a:xfrm rot="0">
            <a:off x="12313202" y="6245460"/>
            <a:ext cx="791832" cy="565885"/>
          </a:xfrm>
          <a:prstGeom prst="rect">
            <a:avLst/>
          </a:prstGeom>
        </p:spPr>
        <p:txBody>
          <a:bodyPr anchor="t" rtlCol="false" tIns="0" lIns="0" bIns="0" rIns="0">
            <a:spAutoFit/>
          </a:bodyPr>
          <a:lstStyle/>
          <a:p>
            <a:pPr algn="ctr">
              <a:lnSpc>
                <a:spcPts val="4369"/>
              </a:lnSpc>
              <a:spcBef>
                <a:spcPct val="0"/>
              </a:spcBef>
            </a:pPr>
            <a:r>
              <a:rPr lang="en-US" b="true" sz="3121">
                <a:solidFill>
                  <a:srgbClr val="340808"/>
                </a:solidFill>
                <a:latin typeface="Poppins Bold"/>
                <a:ea typeface="Poppins Bold"/>
                <a:cs typeface="Poppins Bold"/>
                <a:sym typeface="Poppins Bold"/>
              </a:rPr>
              <a:t>02</a:t>
            </a:r>
          </a:p>
        </p:txBody>
      </p:sp>
      <p:sp>
        <p:nvSpPr>
          <p:cNvPr name="TextBox 25" id="25"/>
          <p:cNvSpPr txBox="true"/>
          <p:nvPr/>
        </p:nvSpPr>
        <p:spPr>
          <a:xfrm rot="0">
            <a:off x="9822642" y="6686126"/>
            <a:ext cx="791832" cy="565885"/>
          </a:xfrm>
          <a:prstGeom prst="rect">
            <a:avLst/>
          </a:prstGeom>
        </p:spPr>
        <p:txBody>
          <a:bodyPr anchor="t" rtlCol="false" tIns="0" lIns="0" bIns="0" rIns="0">
            <a:spAutoFit/>
          </a:bodyPr>
          <a:lstStyle/>
          <a:p>
            <a:pPr algn="ctr">
              <a:lnSpc>
                <a:spcPts val="4369"/>
              </a:lnSpc>
              <a:spcBef>
                <a:spcPct val="0"/>
              </a:spcBef>
            </a:pPr>
            <a:r>
              <a:rPr lang="en-US" b="true" sz="3121">
                <a:solidFill>
                  <a:srgbClr val="340808"/>
                </a:solidFill>
                <a:latin typeface="Poppins Bold"/>
                <a:ea typeface="Poppins Bold"/>
                <a:cs typeface="Poppins Bold"/>
                <a:sym typeface="Poppins Bold"/>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3974877" y="2827569"/>
            <a:ext cx="9292309" cy="2750303"/>
          </a:xfrm>
          <a:custGeom>
            <a:avLst/>
            <a:gdLst/>
            <a:ahLst/>
            <a:cxnLst/>
            <a:rect r="r" b="b" t="t" l="l"/>
            <a:pathLst>
              <a:path h="2750303" w="9292309">
                <a:moveTo>
                  <a:pt x="0" y="0"/>
                </a:moveTo>
                <a:lnTo>
                  <a:pt x="9292309" y="0"/>
                </a:lnTo>
                <a:lnTo>
                  <a:pt x="9292309" y="2750303"/>
                </a:lnTo>
                <a:lnTo>
                  <a:pt x="0" y="2750303"/>
                </a:lnTo>
                <a:lnTo>
                  <a:pt x="0" y="0"/>
                </a:lnTo>
                <a:close/>
              </a:path>
            </a:pathLst>
          </a:custGeom>
          <a:blipFill>
            <a:blip r:embed="rId3"/>
            <a:stretch>
              <a:fillRect l="0" t="0" r="-2383" b="0"/>
            </a:stretch>
          </a:blipFill>
        </p:spPr>
      </p:sp>
      <p:sp>
        <p:nvSpPr>
          <p:cNvPr name="Freeform 10" id="10"/>
          <p:cNvSpPr/>
          <p:nvPr/>
        </p:nvSpPr>
        <p:spPr>
          <a:xfrm flipH="false" flipV="false" rot="0">
            <a:off x="5015842" y="6496983"/>
            <a:ext cx="7843818" cy="3363204"/>
          </a:xfrm>
          <a:custGeom>
            <a:avLst/>
            <a:gdLst/>
            <a:ahLst/>
            <a:cxnLst/>
            <a:rect r="r" b="b" t="t" l="l"/>
            <a:pathLst>
              <a:path h="3363204" w="7843818">
                <a:moveTo>
                  <a:pt x="0" y="0"/>
                </a:moveTo>
                <a:lnTo>
                  <a:pt x="7843818" y="0"/>
                </a:lnTo>
                <a:lnTo>
                  <a:pt x="7843818" y="3363203"/>
                </a:lnTo>
                <a:lnTo>
                  <a:pt x="0" y="3363203"/>
                </a:lnTo>
                <a:lnTo>
                  <a:pt x="0" y="0"/>
                </a:lnTo>
                <a:close/>
              </a:path>
            </a:pathLst>
          </a:custGeom>
          <a:blipFill>
            <a:blip r:embed="rId4"/>
            <a:stretch>
              <a:fillRect l="-941" t="0" r="-4209" b="0"/>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4709974" y="311975"/>
            <a:ext cx="7822115" cy="1169670"/>
          </a:xfrm>
          <a:prstGeom prst="rect">
            <a:avLst/>
          </a:prstGeom>
        </p:spPr>
        <p:txBody>
          <a:bodyPr anchor="t" rtlCol="false" tIns="0" lIns="0" bIns="0" rIns="0">
            <a:spAutoFit/>
          </a:bodyPr>
          <a:lstStyle/>
          <a:p>
            <a:pPr algn="l" marL="0" indent="0" lvl="0">
              <a:lnSpc>
                <a:spcPts val="8640"/>
              </a:lnSpc>
              <a:spcBef>
                <a:spcPct val="0"/>
              </a:spcBef>
            </a:pPr>
            <a:r>
              <a:rPr lang="en-US" sz="9000">
                <a:solidFill>
                  <a:srgbClr val="FFB000"/>
                </a:solidFill>
                <a:latin typeface="Anton"/>
                <a:ea typeface="Anton"/>
                <a:cs typeface="Anton"/>
                <a:sym typeface="Anton"/>
              </a:rPr>
              <a:t>KPI’S REQUIRMENT</a:t>
            </a:r>
          </a:p>
        </p:txBody>
      </p:sp>
      <p:sp>
        <p:nvSpPr>
          <p:cNvPr name="TextBox 14" id="14"/>
          <p:cNvSpPr txBox="true"/>
          <p:nvPr/>
        </p:nvSpPr>
        <p:spPr>
          <a:xfrm rot="0">
            <a:off x="6506534" y="1764317"/>
            <a:ext cx="3794155" cy="657225"/>
          </a:xfrm>
          <a:prstGeom prst="rect">
            <a:avLst/>
          </a:prstGeom>
        </p:spPr>
        <p:txBody>
          <a:bodyPr anchor="t" rtlCol="false" tIns="0" lIns="0" bIns="0" rIns="0">
            <a:spAutoFit/>
          </a:bodyPr>
          <a:lstStyle/>
          <a:p>
            <a:pPr algn="l" marL="0" indent="0" lvl="0">
              <a:lnSpc>
                <a:spcPts val="4800"/>
              </a:lnSpc>
              <a:spcBef>
                <a:spcPct val="0"/>
              </a:spcBef>
            </a:pPr>
            <a:r>
              <a:rPr lang="en-US" sz="5000">
                <a:solidFill>
                  <a:srgbClr val="FFB000"/>
                </a:solidFill>
                <a:latin typeface="Anton"/>
                <a:ea typeface="Anton"/>
                <a:cs typeface="Anton"/>
                <a:sym typeface="Anton"/>
              </a:rPr>
              <a:t>TOTAL_REVENUE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68167" y="6679331"/>
            <a:ext cx="10351125" cy="9869745"/>
            <a:chOff x="0" y="0"/>
            <a:chExt cx="812800" cy="775001"/>
          </a:xfrm>
        </p:grpSpPr>
        <p:sp>
          <p:nvSpPr>
            <p:cNvPr name="Freeform 3" id="3"/>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4" id="4"/>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5" id="5"/>
          <p:cNvSpPr/>
          <p:nvPr/>
        </p:nvSpPr>
        <p:spPr>
          <a:xfrm flipH="false" flipV="false" rot="0">
            <a:off x="614537" y="2319355"/>
            <a:ext cx="8239900" cy="8229600"/>
          </a:xfrm>
          <a:custGeom>
            <a:avLst/>
            <a:gdLst/>
            <a:ahLst/>
            <a:cxnLst/>
            <a:rect r="r" b="b" t="t" l="l"/>
            <a:pathLst>
              <a:path h="8229600" w="8239900">
                <a:moveTo>
                  <a:pt x="0" y="0"/>
                </a:moveTo>
                <a:lnTo>
                  <a:pt x="8239900" y="0"/>
                </a:lnTo>
                <a:lnTo>
                  <a:pt x="8239900" y="8229600"/>
                </a:lnTo>
                <a:lnTo>
                  <a:pt x="0" y="8229600"/>
                </a:lnTo>
                <a:lnTo>
                  <a:pt x="0" y="0"/>
                </a:lnTo>
                <a:close/>
              </a:path>
            </a:pathLst>
          </a:custGeom>
          <a:blipFill>
            <a:blip r:embed="rId2"/>
            <a:stretch>
              <a:fillRect l="0" t="0" r="0" b="0"/>
            </a:stretch>
          </a:blipFill>
        </p:spPr>
      </p:sp>
      <p:grpSp>
        <p:nvGrpSpPr>
          <p:cNvPr name="Group 6" id="6"/>
          <p:cNvGrpSpPr/>
          <p:nvPr/>
        </p:nvGrpSpPr>
        <p:grpSpPr>
          <a:xfrm rot="0">
            <a:off x="8854437" y="-6571985"/>
            <a:ext cx="13673516" cy="1367351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5716250" y="9744075"/>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2" id="12"/>
          <p:cNvSpPr/>
          <p:nvPr/>
        </p:nvSpPr>
        <p:spPr>
          <a:xfrm flipH="false" flipV="false" rot="0">
            <a:off x="-1386147" y="2319355"/>
            <a:ext cx="2249352" cy="1231009"/>
          </a:xfrm>
          <a:custGeom>
            <a:avLst/>
            <a:gdLst/>
            <a:ahLst/>
            <a:cxnLst/>
            <a:rect r="r" b="b" t="t" l="l"/>
            <a:pathLst>
              <a:path h="1231009" w="2249352">
                <a:moveTo>
                  <a:pt x="0" y="0"/>
                </a:moveTo>
                <a:lnTo>
                  <a:pt x="2249351" y="0"/>
                </a:lnTo>
                <a:lnTo>
                  <a:pt x="2249351" y="1231009"/>
                </a:lnTo>
                <a:lnTo>
                  <a:pt x="0" y="12310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863204" y="2531128"/>
            <a:ext cx="7288383" cy="6769086"/>
          </a:xfrm>
          <a:custGeom>
            <a:avLst/>
            <a:gdLst/>
            <a:ahLst/>
            <a:cxnLst/>
            <a:rect r="r" b="b" t="t" l="l"/>
            <a:pathLst>
              <a:path h="6769086" w="7288383">
                <a:moveTo>
                  <a:pt x="0" y="0"/>
                </a:moveTo>
                <a:lnTo>
                  <a:pt x="7288383" y="0"/>
                </a:lnTo>
                <a:lnTo>
                  <a:pt x="7288383" y="6769086"/>
                </a:lnTo>
                <a:lnTo>
                  <a:pt x="0" y="6769086"/>
                </a:lnTo>
                <a:lnTo>
                  <a:pt x="0" y="0"/>
                </a:lnTo>
                <a:close/>
              </a:path>
            </a:pathLst>
          </a:custGeom>
          <a:blipFill>
            <a:blip r:embed="rId5"/>
            <a:stretch>
              <a:fillRect l="0" t="0" r="0" b="0"/>
            </a:stretch>
          </a:blipFill>
        </p:spPr>
      </p:sp>
      <p:sp>
        <p:nvSpPr>
          <p:cNvPr name="Freeform 15" id="15"/>
          <p:cNvSpPr/>
          <p:nvPr/>
        </p:nvSpPr>
        <p:spPr>
          <a:xfrm flipH="false" flipV="false" rot="3477770">
            <a:off x="-1241294" y="4037912"/>
            <a:ext cx="4539987" cy="4307313"/>
          </a:xfrm>
          <a:custGeom>
            <a:avLst/>
            <a:gdLst/>
            <a:ahLst/>
            <a:cxnLst/>
            <a:rect r="r" b="b" t="t" l="l"/>
            <a:pathLst>
              <a:path h="4307313" w="4539987">
                <a:moveTo>
                  <a:pt x="0" y="0"/>
                </a:moveTo>
                <a:lnTo>
                  <a:pt x="4539988" y="0"/>
                </a:lnTo>
                <a:lnTo>
                  <a:pt x="4539988" y="4307313"/>
                </a:lnTo>
                <a:lnTo>
                  <a:pt x="0" y="4307313"/>
                </a:lnTo>
                <a:lnTo>
                  <a:pt x="0" y="0"/>
                </a:lnTo>
                <a:close/>
              </a:path>
            </a:pathLst>
          </a:custGeom>
          <a:blipFill>
            <a:blip r:embed="rId6"/>
            <a:stretch>
              <a:fillRect l="0" t="0" r="0" b="0"/>
            </a:stretch>
          </a:blipFill>
        </p:spPr>
      </p:sp>
      <p:sp>
        <p:nvSpPr>
          <p:cNvPr name="Freeform 16" id="16"/>
          <p:cNvSpPr/>
          <p:nvPr/>
        </p:nvSpPr>
        <p:spPr>
          <a:xfrm flipH="false" flipV="false" rot="0">
            <a:off x="7500648" y="2257801"/>
            <a:ext cx="10757984" cy="1734073"/>
          </a:xfrm>
          <a:custGeom>
            <a:avLst/>
            <a:gdLst/>
            <a:ahLst/>
            <a:cxnLst/>
            <a:rect r="r" b="b" t="t" l="l"/>
            <a:pathLst>
              <a:path h="1734073" w="10757984">
                <a:moveTo>
                  <a:pt x="0" y="0"/>
                </a:moveTo>
                <a:lnTo>
                  <a:pt x="10757984" y="0"/>
                </a:lnTo>
                <a:lnTo>
                  <a:pt x="10757984" y="1734072"/>
                </a:lnTo>
                <a:lnTo>
                  <a:pt x="0" y="1734072"/>
                </a:lnTo>
                <a:lnTo>
                  <a:pt x="0" y="0"/>
                </a:lnTo>
                <a:close/>
              </a:path>
            </a:pathLst>
          </a:custGeom>
          <a:blipFill>
            <a:blip r:embed="rId7"/>
            <a:stretch>
              <a:fillRect l="0" t="0" r="0" b="0"/>
            </a:stretch>
          </a:blipFill>
        </p:spPr>
      </p:sp>
      <p:sp>
        <p:nvSpPr>
          <p:cNvPr name="Freeform 17" id="17"/>
          <p:cNvSpPr/>
          <p:nvPr/>
        </p:nvSpPr>
        <p:spPr>
          <a:xfrm flipH="false" flipV="false" rot="0">
            <a:off x="9231983" y="4480112"/>
            <a:ext cx="8326243" cy="2871118"/>
          </a:xfrm>
          <a:custGeom>
            <a:avLst/>
            <a:gdLst/>
            <a:ahLst/>
            <a:cxnLst/>
            <a:rect r="r" b="b" t="t" l="l"/>
            <a:pathLst>
              <a:path h="2871118" w="8326243">
                <a:moveTo>
                  <a:pt x="0" y="0"/>
                </a:moveTo>
                <a:lnTo>
                  <a:pt x="8326244" y="0"/>
                </a:lnTo>
                <a:lnTo>
                  <a:pt x="8326244" y="2871118"/>
                </a:lnTo>
                <a:lnTo>
                  <a:pt x="0" y="2871118"/>
                </a:lnTo>
                <a:lnTo>
                  <a:pt x="0" y="0"/>
                </a:lnTo>
                <a:close/>
              </a:path>
            </a:pathLst>
          </a:custGeom>
          <a:blipFill>
            <a:blip r:embed="rId8"/>
            <a:stretch>
              <a:fillRect l="0" t="0" r="0" b="0"/>
            </a:stretch>
          </a:blipFill>
        </p:spPr>
      </p:sp>
      <p:sp>
        <p:nvSpPr>
          <p:cNvPr name="TextBox 18" id="18"/>
          <p:cNvSpPr txBox="true"/>
          <p:nvPr/>
        </p:nvSpPr>
        <p:spPr>
          <a:xfrm rot="0">
            <a:off x="11951749" y="1122903"/>
            <a:ext cx="927891" cy="358701"/>
          </a:xfrm>
          <a:prstGeom prst="rect">
            <a:avLst/>
          </a:prstGeom>
        </p:spPr>
        <p:txBody>
          <a:bodyPr anchor="t" rtlCol="false" tIns="0" lIns="0" bIns="0" rIns="0">
            <a:spAutoFit/>
          </a:bodyPr>
          <a:lstStyle/>
          <a:p>
            <a:pPr algn="ctr">
              <a:lnSpc>
                <a:spcPts val="2799"/>
              </a:lnSpc>
              <a:spcBef>
                <a:spcPct val="0"/>
              </a:spcBef>
            </a:pPr>
            <a:r>
              <a:rPr lang="en-US" b="true" sz="1999">
                <a:solidFill>
                  <a:srgbClr val="340808"/>
                </a:solidFill>
                <a:latin typeface="Poppins Bold"/>
                <a:ea typeface="Poppins Bold"/>
                <a:cs typeface="Poppins Bold"/>
                <a:sym typeface="Poppins Bold"/>
              </a:rPr>
              <a:t>Home</a:t>
            </a:r>
          </a:p>
        </p:txBody>
      </p:sp>
      <p:sp>
        <p:nvSpPr>
          <p:cNvPr name="TextBox 19" id="19"/>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20" id="20"/>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21" id="21"/>
          <p:cNvSpPr txBox="true"/>
          <p:nvPr/>
        </p:nvSpPr>
        <p:spPr>
          <a:xfrm rot="0">
            <a:off x="9364722" y="149417"/>
            <a:ext cx="8060765" cy="1169670"/>
          </a:xfrm>
          <a:prstGeom prst="rect">
            <a:avLst/>
          </a:prstGeom>
        </p:spPr>
        <p:txBody>
          <a:bodyPr anchor="t" rtlCol="false" tIns="0" lIns="0" bIns="0" rIns="0">
            <a:spAutoFit/>
          </a:bodyPr>
          <a:lstStyle/>
          <a:p>
            <a:pPr algn="l">
              <a:lnSpc>
                <a:spcPts val="8640"/>
              </a:lnSpc>
            </a:pPr>
            <a:r>
              <a:rPr lang="en-US" sz="9000">
                <a:solidFill>
                  <a:srgbClr val="FFB000"/>
                </a:solidFill>
                <a:latin typeface="Anton"/>
                <a:ea typeface="Anton"/>
                <a:cs typeface="Anton"/>
                <a:sym typeface="Anton"/>
              </a:rPr>
              <a:t>AVG_ORDER_VALUE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68167" y="6679331"/>
            <a:ext cx="10351125" cy="9869745"/>
            <a:chOff x="0" y="0"/>
            <a:chExt cx="812800" cy="775001"/>
          </a:xfrm>
        </p:grpSpPr>
        <p:sp>
          <p:nvSpPr>
            <p:cNvPr name="Freeform 3" id="3"/>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4" id="4"/>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5" id="5"/>
          <p:cNvSpPr/>
          <p:nvPr/>
        </p:nvSpPr>
        <p:spPr>
          <a:xfrm flipH="false" flipV="false" rot="0">
            <a:off x="-392409" y="2319355"/>
            <a:ext cx="8239900" cy="8229600"/>
          </a:xfrm>
          <a:custGeom>
            <a:avLst/>
            <a:gdLst/>
            <a:ahLst/>
            <a:cxnLst/>
            <a:rect r="r" b="b" t="t" l="l"/>
            <a:pathLst>
              <a:path h="8229600" w="8239900">
                <a:moveTo>
                  <a:pt x="0" y="0"/>
                </a:moveTo>
                <a:lnTo>
                  <a:pt x="8239899" y="0"/>
                </a:lnTo>
                <a:lnTo>
                  <a:pt x="8239899" y="8229600"/>
                </a:lnTo>
                <a:lnTo>
                  <a:pt x="0" y="8229600"/>
                </a:lnTo>
                <a:lnTo>
                  <a:pt x="0" y="0"/>
                </a:lnTo>
                <a:close/>
              </a:path>
            </a:pathLst>
          </a:custGeom>
          <a:blipFill>
            <a:blip r:embed="rId2"/>
            <a:stretch>
              <a:fillRect l="0" t="0" r="0" b="0"/>
            </a:stretch>
          </a:blipFill>
        </p:spPr>
      </p:sp>
      <p:grpSp>
        <p:nvGrpSpPr>
          <p:cNvPr name="Group 6" id="6"/>
          <p:cNvGrpSpPr/>
          <p:nvPr/>
        </p:nvGrpSpPr>
        <p:grpSpPr>
          <a:xfrm rot="0">
            <a:off x="8854437" y="-6571985"/>
            <a:ext cx="13673516" cy="1367351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5716250" y="9744075"/>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2" id="12"/>
          <p:cNvSpPr/>
          <p:nvPr/>
        </p:nvSpPr>
        <p:spPr>
          <a:xfrm flipH="false" flipV="false" rot="0">
            <a:off x="-1615803" y="675288"/>
            <a:ext cx="2249352" cy="1231009"/>
          </a:xfrm>
          <a:custGeom>
            <a:avLst/>
            <a:gdLst/>
            <a:ahLst/>
            <a:cxnLst/>
            <a:rect r="r" b="b" t="t" l="l"/>
            <a:pathLst>
              <a:path h="1231009" w="2249352">
                <a:moveTo>
                  <a:pt x="0" y="0"/>
                </a:moveTo>
                <a:lnTo>
                  <a:pt x="2249351" y="0"/>
                </a:lnTo>
                <a:lnTo>
                  <a:pt x="2249351"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863204" y="2319355"/>
            <a:ext cx="7742439" cy="6424166"/>
            <a:chOff x="0" y="0"/>
            <a:chExt cx="906918" cy="752501"/>
          </a:xfrm>
        </p:grpSpPr>
        <p:sp>
          <p:nvSpPr>
            <p:cNvPr name="Freeform 15" id="15"/>
            <p:cNvSpPr/>
            <p:nvPr/>
          </p:nvSpPr>
          <p:spPr>
            <a:xfrm flipH="false" flipV="false" rot="0">
              <a:off x="0" y="0"/>
              <a:ext cx="906918" cy="752501"/>
            </a:xfrm>
            <a:custGeom>
              <a:avLst/>
              <a:gdLst/>
              <a:ahLst/>
              <a:cxnLst/>
              <a:rect r="r" b="b" t="t" l="l"/>
              <a:pathLst>
                <a:path h="752501" w="906918">
                  <a:moveTo>
                    <a:pt x="22998" y="0"/>
                  </a:moveTo>
                  <a:lnTo>
                    <a:pt x="883919" y="0"/>
                  </a:lnTo>
                  <a:cubicBezTo>
                    <a:pt x="896621" y="0"/>
                    <a:pt x="906918" y="10297"/>
                    <a:pt x="906918" y="22998"/>
                  </a:cubicBezTo>
                  <a:lnTo>
                    <a:pt x="906918" y="729502"/>
                  </a:lnTo>
                  <a:cubicBezTo>
                    <a:pt x="906918" y="742204"/>
                    <a:pt x="896621" y="752501"/>
                    <a:pt x="883919" y="752501"/>
                  </a:cubicBezTo>
                  <a:lnTo>
                    <a:pt x="22998" y="752501"/>
                  </a:lnTo>
                  <a:cubicBezTo>
                    <a:pt x="16899" y="752501"/>
                    <a:pt x="11049" y="750078"/>
                    <a:pt x="6736" y="745765"/>
                  </a:cubicBezTo>
                  <a:cubicBezTo>
                    <a:pt x="2423" y="741452"/>
                    <a:pt x="0" y="735602"/>
                    <a:pt x="0" y="729502"/>
                  </a:cubicBezTo>
                  <a:lnTo>
                    <a:pt x="0" y="22998"/>
                  </a:lnTo>
                  <a:cubicBezTo>
                    <a:pt x="0" y="10297"/>
                    <a:pt x="10297" y="0"/>
                    <a:pt x="22998" y="0"/>
                  </a:cubicBezTo>
                  <a:close/>
                </a:path>
              </a:pathLst>
            </a:custGeom>
            <a:blipFill>
              <a:blip r:embed="rId5"/>
              <a:stretch>
                <a:fillRect l="0" t="-10260" r="0" b="-10260"/>
              </a:stretch>
            </a:blipFill>
            <a:ln w="152400" cap="rnd">
              <a:solidFill>
                <a:srgbClr val="FFFFFF"/>
              </a:solidFill>
              <a:prstDash val="solid"/>
              <a:round/>
            </a:ln>
          </p:spPr>
        </p:sp>
      </p:grpSp>
      <p:sp>
        <p:nvSpPr>
          <p:cNvPr name="Freeform 16" id="16"/>
          <p:cNvSpPr/>
          <p:nvPr/>
        </p:nvSpPr>
        <p:spPr>
          <a:xfrm flipH="false" flipV="false" rot="0">
            <a:off x="8750292" y="2061369"/>
            <a:ext cx="9523289" cy="2904464"/>
          </a:xfrm>
          <a:custGeom>
            <a:avLst/>
            <a:gdLst/>
            <a:ahLst/>
            <a:cxnLst/>
            <a:rect r="r" b="b" t="t" l="l"/>
            <a:pathLst>
              <a:path h="2904464" w="9523289">
                <a:moveTo>
                  <a:pt x="0" y="0"/>
                </a:moveTo>
                <a:lnTo>
                  <a:pt x="9523290" y="0"/>
                </a:lnTo>
                <a:lnTo>
                  <a:pt x="9523290" y="2904464"/>
                </a:lnTo>
                <a:lnTo>
                  <a:pt x="0" y="2904464"/>
                </a:lnTo>
                <a:lnTo>
                  <a:pt x="0" y="0"/>
                </a:lnTo>
                <a:close/>
              </a:path>
            </a:pathLst>
          </a:custGeom>
          <a:blipFill>
            <a:blip r:embed="rId6"/>
            <a:stretch>
              <a:fillRect l="0" t="0" r="0" b="0"/>
            </a:stretch>
          </a:blipFill>
        </p:spPr>
      </p:sp>
      <p:sp>
        <p:nvSpPr>
          <p:cNvPr name="Freeform 17" id="17"/>
          <p:cNvSpPr/>
          <p:nvPr/>
        </p:nvSpPr>
        <p:spPr>
          <a:xfrm flipH="false" flipV="false" rot="0">
            <a:off x="9144000" y="5702238"/>
            <a:ext cx="8266050" cy="3041282"/>
          </a:xfrm>
          <a:custGeom>
            <a:avLst/>
            <a:gdLst/>
            <a:ahLst/>
            <a:cxnLst/>
            <a:rect r="r" b="b" t="t" l="l"/>
            <a:pathLst>
              <a:path h="3041282" w="8266050">
                <a:moveTo>
                  <a:pt x="0" y="0"/>
                </a:moveTo>
                <a:lnTo>
                  <a:pt x="8266050" y="0"/>
                </a:lnTo>
                <a:lnTo>
                  <a:pt x="8266050" y="3041283"/>
                </a:lnTo>
                <a:lnTo>
                  <a:pt x="0" y="3041283"/>
                </a:lnTo>
                <a:lnTo>
                  <a:pt x="0" y="0"/>
                </a:lnTo>
                <a:close/>
              </a:path>
            </a:pathLst>
          </a:custGeom>
          <a:blipFill>
            <a:blip r:embed="rId7"/>
            <a:stretch>
              <a:fillRect l="0" t="0" r="0" b="0"/>
            </a:stretch>
          </a:blipFill>
        </p:spPr>
      </p:sp>
      <p:sp>
        <p:nvSpPr>
          <p:cNvPr name="TextBox 18" id="18"/>
          <p:cNvSpPr txBox="true"/>
          <p:nvPr/>
        </p:nvSpPr>
        <p:spPr>
          <a:xfrm rot="0">
            <a:off x="9387262" y="367166"/>
            <a:ext cx="8249350" cy="1169670"/>
          </a:xfrm>
          <a:prstGeom prst="rect">
            <a:avLst/>
          </a:prstGeom>
        </p:spPr>
        <p:txBody>
          <a:bodyPr anchor="t" rtlCol="false" tIns="0" lIns="0" bIns="0" rIns="0">
            <a:spAutoFit/>
          </a:bodyPr>
          <a:lstStyle/>
          <a:p>
            <a:pPr algn="l">
              <a:lnSpc>
                <a:spcPts val="8640"/>
              </a:lnSpc>
            </a:pPr>
            <a:r>
              <a:rPr lang="en-US" sz="9000">
                <a:solidFill>
                  <a:srgbClr val="FFB000"/>
                </a:solidFill>
                <a:latin typeface="Anton"/>
                <a:ea typeface="Anton"/>
                <a:cs typeface="Anton"/>
                <a:sym typeface="Anton"/>
              </a:rPr>
              <a:t>TOTAL_PIZZAS_SOLD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2879640" y="6495322"/>
            <a:ext cx="9558443" cy="95584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6688054" y="9515692"/>
            <a:ext cx="2249352" cy="1231009"/>
          </a:xfrm>
          <a:custGeom>
            <a:avLst/>
            <a:gdLst/>
            <a:ahLst/>
            <a:cxnLst/>
            <a:rect r="r" b="b" t="t" l="l"/>
            <a:pathLst>
              <a:path h="1231009" w="2249352">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302405">
            <a:off x="-1609206" y="81637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4"/>
            <a:stretch>
              <a:fillRect l="0" t="0" r="0" b="0"/>
            </a:stretch>
          </a:blipFill>
        </p:spPr>
      </p:sp>
      <p:grpSp>
        <p:nvGrpSpPr>
          <p:cNvPr name="Group 10" id="10"/>
          <p:cNvGrpSpPr/>
          <p:nvPr/>
        </p:nvGrpSpPr>
        <p:grpSpPr>
          <a:xfrm rot="0">
            <a:off x="11536075" y="2319355"/>
            <a:ext cx="6226825" cy="6938945"/>
            <a:chOff x="0" y="0"/>
            <a:chExt cx="729385" cy="812800"/>
          </a:xfrm>
        </p:grpSpPr>
        <p:sp>
          <p:nvSpPr>
            <p:cNvPr name="Freeform 11" id="11"/>
            <p:cNvSpPr/>
            <p:nvPr/>
          </p:nvSpPr>
          <p:spPr>
            <a:xfrm flipH="false" flipV="false" rot="0">
              <a:off x="0" y="0"/>
              <a:ext cx="729385" cy="812800"/>
            </a:xfrm>
            <a:custGeom>
              <a:avLst/>
              <a:gdLst/>
              <a:ahLst/>
              <a:cxnLst/>
              <a:rect r="r" b="b" t="t" l="l"/>
              <a:pathLst>
                <a:path h="812800" w="729385">
                  <a:moveTo>
                    <a:pt x="28596" y="0"/>
                  </a:moveTo>
                  <a:lnTo>
                    <a:pt x="700789" y="0"/>
                  </a:lnTo>
                  <a:cubicBezTo>
                    <a:pt x="708373" y="0"/>
                    <a:pt x="715647" y="3013"/>
                    <a:pt x="721009" y="8376"/>
                  </a:cubicBezTo>
                  <a:cubicBezTo>
                    <a:pt x="726372" y="13739"/>
                    <a:pt x="729385" y="21012"/>
                    <a:pt x="729385" y="28596"/>
                  </a:cubicBezTo>
                  <a:lnTo>
                    <a:pt x="729385" y="784204"/>
                  </a:lnTo>
                  <a:cubicBezTo>
                    <a:pt x="729385" y="791788"/>
                    <a:pt x="726372" y="799061"/>
                    <a:pt x="721009" y="804424"/>
                  </a:cubicBezTo>
                  <a:cubicBezTo>
                    <a:pt x="715647" y="809787"/>
                    <a:pt x="708373" y="812800"/>
                    <a:pt x="700789" y="812800"/>
                  </a:cubicBezTo>
                  <a:lnTo>
                    <a:pt x="28596" y="812800"/>
                  </a:lnTo>
                  <a:cubicBezTo>
                    <a:pt x="21012" y="812800"/>
                    <a:pt x="13739" y="809787"/>
                    <a:pt x="8376" y="804424"/>
                  </a:cubicBezTo>
                  <a:cubicBezTo>
                    <a:pt x="3013" y="799061"/>
                    <a:pt x="0" y="791788"/>
                    <a:pt x="0" y="784204"/>
                  </a:cubicBezTo>
                  <a:lnTo>
                    <a:pt x="0" y="28596"/>
                  </a:lnTo>
                  <a:cubicBezTo>
                    <a:pt x="0" y="21012"/>
                    <a:pt x="3013" y="13739"/>
                    <a:pt x="8376" y="8376"/>
                  </a:cubicBezTo>
                  <a:cubicBezTo>
                    <a:pt x="13739" y="3013"/>
                    <a:pt x="21012" y="0"/>
                    <a:pt x="28596" y="0"/>
                  </a:cubicBezTo>
                  <a:close/>
                </a:path>
              </a:pathLst>
            </a:custGeom>
            <a:blipFill>
              <a:blip r:embed="rId5"/>
              <a:stretch>
                <a:fillRect l="-33629" t="0" r="-33629" b="0"/>
              </a:stretch>
            </a:blipFill>
            <a:ln w="152400" cap="rnd">
              <a:solidFill>
                <a:srgbClr val="FFFFFF"/>
              </a:solidFill>
              <a:prstDash val="solid"/>
              <a:round/>
            </a:ln>
          </p:spPr>
        </p:sp>
      </p:grpSp>
      <p:sp>
        <p:nvSpPr>
          <p:cNvPr name="Freeform 12" id="12"/>
          <p:cNvSpPr/>
          <p:nvPr/>
        </p:nvSpPr>
        <p:spPr>
          <a:xfrm flipH="false" flipV="false" rot="0">
            <a:off x="203432" y="2421542"/>
            <a:ext cx="9772724" cy="2771000"/>
          </a:xfrm>
          <a:custGeom>
            <a:avLst/>
            <a:gdLst/>
            <a:ahLst/>
            <a:cxnLst/>
            <a:rect r="r" b="b" t="t" l="l"/>
            <a:pathLst>
              <a:path h="2771000" w="9772724">
                <a:moveTo>
                  <a:pt x="0" y="0"/>
                </a:moveTo>
                <a:lnTo>
                  <a:pt x="9772723" y="0"/>
                </a:lnTo>
                <a:lnTo>
                  <a:pt x="9772723" y="2771000"/>
                </a:lnTo>
                <a:lnTo>
                  <a:pt x="0" y="2771000"/>
                </a:lnTo>
                <a:lnTo>
                  <a:pt x="0" y="0"/>
                </a:lnTo>
                <a:close/>
              </a:path>
            </a:pathLst>
          </a:custGeom>
          <a:blipFill>
            <a:blip r:embed="rId6"/>
            <a:stretch>
              <a:fillRect l="0" t="0" r="0" b="0"/>
            </a:stretch>
          </a:blipFill>
        </p:spPr>
      </p:sp>
      <p:sp>
        <p:nvSpPr>
          <p:cNvPr name="Freeform 13" id="13"/>
          <p:cNvSpPr/>
          <p:nvPr/>
        </p:nvSpPr>
        <p:spPr>
          <a:xfrm flipH="false" flipV="false" rot="0">
            <a:off x="1028700" y="5561056"/>
            <a:ext cx="8186754" cy="3697244"/>
          </a:xfrm>
          <a:custGeom>
            <a:avLst/>
            <a:gdLst/>
            <a:ahLst/>
            <a:cxnLst/>
            <a:rect r="r" b="b" t="t" l="l"/>
            <a:pathLst>
              <a:path h="3697244" w="8186754">
                <a:moveTo>
                  <a:pt x="0" y="0"/>
                </a:moveTo>
                <a:lnTo>
                  <a:pt x="8186754" y="0"/>
                </a:lnTo>
                <a:lnTo>
                  <a:pt x="8186754" y="3697244"/>
                </a:lnTo>
                <a:lnTo>
                  <a:pt x="0" y="3697244"/>
                </a:lnTo>
                <a:lnTo>
                  <a:pt x="0" y="0"/>
                </a:lnTo>
                <a:close/>
              </a:path>
            </a:pathLst>
          </a:custGeom>
          <a:blipFill>
            <a:blip r:embed="rId7"/>
            <a:stretch>
              <a:fillRect l="0" t="0" r="0" b="0"/>
            </a:stretch>
          </a:blipFill>
        </p:spPr>
      </p:sp>
      <p:sp>
        <p:nvSpPr>
          <p:cNvPr name="TextBox 14" id="14"/>
          <p:cNvSpPr txBox="true"/>
          <p:nvPr/>
        </p:nvSpPr>
        <p:spPr>
          <a:xfrm rot="0">
            <a:off x="203432" y="517392"/>
            <a:ext cx="8446030" cy="1602741"/>
          </a:xfrm>
          <a:prstGeom prst="rect">
            <a:avLst/>
          </a:prstGeom>
        </p:spPr>
        <p:txBody>
          <a:bodyPr anchor="t" rtlCol="false" tIns="0" lIns="0" bIns="0" rIns="0">
            <a:spAutoFit/>
          </a:bodyPr>
          <a:lstStyle/>
          <a:p>
            <a:pPr algn="l" marL="0" indent="0" lvl="0">
              <a:lnSpc>
                <a:spcPts val="11909"/>
              </a:lnSpc>
              <a:spcBef>
                <a:spcPct val="0"/>
              </a:spcBef>
            </a:pPr>
            <a:r>
              <a:rPr lang="en-US" sz="12405">
                <a:solidFill>
                  <a:srgbClr val="FFB000"/>
                </a:solidFill>
                <a:latin typeface="Anton"/>
                <a:ea typeface="Anton"/>
                <a:cs typeface="Anton"/>
                <a:sym typeface="Anton"/>
              </a:rPr>
              <a:t>TOTAL_ORDERS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68167" y="6679331"/>
            <a:ext cx="10351125" cy="9869745"/>
            <a:chOff x="0" y="0"/>
            <a:chExt cx="812800" cy="775001"/>
          </a:xfrm>
        </p:grpSpPr>
        <p:sp>
          <p:nvSpPr>
            <p:cNvPr name="Freeform 3" id="3"/>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4" id="4"/>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5" id="5"/>
          <p:cNvSpPr/>
          <p:nvPr/>
        </p:nvSpPr>
        <p:spPr>
          <a:xfrm flipH="false" flipV="false" rot="0">
            <a:off x="-392409" y="2319355"/>
            <a:ext cx="8239900" cy="8229600"/>
          </a:xfrm>
          <a:custGeom>
            <a:avLst/>
            <a:gdLst/>
            <a:ahLst/>
            <a:cxnLst/>
            <a:rect r="r" b="b" t="t" l="l"/>
            <a:pathLst>
              <a:path h="8229600" w="8239900">
                <a:moveTo>
                  <a:pt x="0" y="0"/>
                </a:moveTo>
                <a:lnTo>
                  <a:pt x="8239899" y="0"/>
                </a:lnTo>
                <a:lnTo>
                  <a:pt x="8239899" y="8229600"/>
                </a:lnTo>
                <a:lnTo>
                  <a:pt x="0" y="8229600"/>
                </a:lnTo>
                <a:lnTo>
                  <a:pt x="0" y="0"/>
                </a:lnTo>
                <a:close/>
              </a:path>
            </a:pathLst>
          </a:custGeom>
          <a:blipFill>
            <a:blip r:embed="rId2"/>
            <a:stretch>
              <a:fillRect l="0" t="0" r="0" b="0"/>
            </a:stretch>
          </a:blipFill>
        </p:spPr>
      </p:sp>
      <p:grpSp>
        <p:nvGrpSpPr>
          <p:cNvPr name="Group 6" id="6"/>
          <p:cNvGrpSpPr/>
          <p:nvPr/>
        </p:nvGrpSpPr>
        <p:grpSpPr>
          <a:xfrm rot="0">
            <a:off x="8854437" y="-6571985"/>
            <a:ext cx="13673516" cy="1367351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5716250" y="9744075"/>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2" id="12"/>
          <p:cNvSpPr/>
          <p:nvPr/>
        </p:nvSpPr>
        <p:spPr>
          <a:xfrm flipH="false" flipV="false" rot="0">
            <a:off x="-1615803" y="675288"/>
            <a:ext cx="2249352" cy="1231009"/>
          </a:xfrm>
          <a:custGeom>
            <a:avLst/>
            <a:gdLst/>
            <a:ahLst/>
            <a:cxnLst/>
            <a:rect r="r" b="b" t="t" l="l"/>
            <a:pathLst>
              <a:path h="1231009" w="2249352">
                <a:moveTo>
                  <a:pt x="0" y="0"/>
                </a:moveTo>
                <a:lnTo>
                  <a:pt x="2249351" y="0"/>
                </a:lnTo>
                <a:lnTo>
                  <a:pt x="2249351"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320476" y="2319355"/>
            <a:ext cx="6814129" cy="6424166"/>
            <a:chOff x="0" y="0"/>
            <a:chExt cx="798180" cy="752501"/>
          </a:xfrm>
        </p:grpSpPr>
        <p:sp>
          <p:nvSpPr>
            <p:cNvPr name="Freeform 15" id="15"/>
            <p:cNvSpPr/>
            <p:nvPr/>
          </p:nvSpPr>
          <p:spPr>
            <a:xfrm flipH="false" flipV="false" rot="0">
              <a:off x="0" y="0"/>
              <a:ext cx="798180" cy="752501"/>
            </a:xfrm>
            <a:custGeom>
              <a:avLst/>
              <a:gdLst/>
              <a:ahLst/>
              <a:cxnLst/>
              <a:rect r="r" b="b" t="t" l="l"/>
              <a:pathLst>
                <a:path h="752501" w="798180">
                  <a:moveTo>
                    <a:pt x="26132" y="0"/>
                  </a:moveTo>
                  <a:lnTo>
                    <a:pt x="772048" y="0"/>
                  </a:lnTo>
                  <a:cubicBezTo>
                    <a:pt x="778978" y="0"/>
                    <a:pt x="785625" y="2753"/>
                    <a:pt x="790526" y="7654"/>
                  </a:cubicBezTo>
                  <a:cubicBezTo>
                    <a:pt x="795426" y="12554"/>
                    <a:pt x="798180" y="19201"/>
                    <a:pt x="798180" y="26132"/>
                  </a:cubicBezTo>
                  <a:lnTo>
                    <a:pt x="798180" y="726369"/>
                  </a:lnTo>
                  <a:cubicBezTo>
                    <a:pt x="798180" y="733300"/>
                    <a:pt x="795426" y="739946"/>
                    <a:pt x="790526" y="744847"/>
                  </a:cubicBezTo>
                  <a:cubicBezTo>
                    <a:pt x="785625" y="749748"/>
                    <a:pt x="778978" y="752501"/>
                    <a:pt x="772048" y="752501"/>
                  </a:cubicBezTo>
                  <a:lnTo>
                    <a:pt x="26132" y="752501"/>
                  </a:lnTo>
                  <a:cubicBezTo>
                    <a:pt x="19201" y="752501"/>
                    <a:pt x="12554" y="749748"/>
                    <a:pt x="7654" y="744847"/>
                  </a:cubicBezTo>
                  <a:cubicBezTo>
                    <a:pt x="2753" y="739946"/>
                    <a:pt x="0" y="733300"/>
                    <a:pt x="0" y="726369"/>
                  </a:cubicBezTo>
                  <a:lnTo>
                    <a:pt x="0" y="26132"/>
                  </a:lnTo>
                  <a:cubicBezTo>
                    <a:pt x="0" y="19201"/>
                    <a:pt x="2753" y="12554"/>
                    <a:pt x="7654" y="7654"/>
                  </a:cubicBezTo>
                  <a:cubicBezTo>
                    <a:pt x="12554" y="2753"/>
                    <a:pt x="19201" y="0"/>
                    <a:pt x="26132" y="0"/>
                  </a:cubicBezTo>
                  <a:close/>
                </a:path>
              </a:pathLst>
            </a:custGeom>
            <a:blipFill>
              <a:blip r:embed="rId5"/>
              <a:stretch>
                <a:fillRect l="0" t="-3035" r="0" b="-3035"/>
              </a:stretch>
            </a:blipFill>
            <a:ln w="152400" cap="rnd">
              <a:solidFill>
                <a:srgbClr val="FFFFFF"/>
              </a:solidFill>
              <a:prstDash val="solid"/>
              <a:round/>
            </a:ln>
          </p:spPr>
        </p:sp>
      </p:grpSp>
      <p:sp>
        <p:nvSpPr>
          <p:cNvPr name="Freeform 16" id="16"/>
          <p:cNvSpPr/>
          <p:nvPr/>
        </p:nvSpPr>
        <p:spPr>
          <a:xfrm flipH="false" flipV="false" rot="0">
            <a:off x="7447677" y="1617742"/>
            <a:ext cx="10840323" cy="1784887"/>
          </a:xfrm>
          <a:custGeom>
            <a:avLst/>
            <a:gdLst/>
            <a:ahLst/>
            <a:cxnLst/>
            <a:rect r="r" b="b" t="t" l="l"/>
            <a:pathLst>
              <a:path h="1784887" w="10840323">
                <a:moveTo>
                  <a:pt x="0" y="0"/>
                </a:moveTo>
                <a:lnTo>
                  <a:pt x="10840323" y="0"/>
                </a:lnTo>
                <a:lnTo>
                  <a:pt x="10840323" y="1784887"/>
                </a:lnTo>
                <a:lnTo>
                  <a:pt x="0" y="1784887"/>
                </a:lnTo>
                <a:lnTo>
                  <a:pt x="0" y="0"/>
                </a:lnTo>
                <a:close/>
              </a:path>
            </a:pathLst>
          </a:custGeom>
          <a:blipFill>
            <a:blip r:embed="rId6"/>
            <a:stretch>
              <a:fillRect l="0" t="0" r="0" b="0"/>
            </a:stretch>
          </a:blipFill>
        </p:spPr>
      </p:sp>
      <p:sp>
        <p:nvSpPr>
          <p:cNvPr name="Freeform 17" id="17"/>
          <p:cNvSpPr/>
          <p:nvPr/>
        </p:nvSpPr>
        <p:spPr>
          <a:xfrm flipH="false" flipV="false" rot="0">
            <a:off x="8064996" y="4372819"/>
            <a:ext cx="8605937" cy="2728712"/>
          </a:xfrm>
          <a:custGeom>
            <a:avLst/>
            <a:gdLst/>
            <a:ahLst/>
            <a:cxnLst/>
            <a:rect r="r" b="b" t="t" l="l"/>
            <a:pathLst>
              <a:path h="2728712" w="8605937">
                <a:moveTo>
                  <a:pt x="0" y="0"/>
                </a:moveTo>
                <a:lnTo>
                  <a:pt x="8605937" y="0"/>
                </a:lnTo>
                <a:lnTo>
                  <a:pt x="8605937" y="2728712"/>
                </a:lnTo>
                <a:lnTo>
                  <a:pt x="0" y="2728712"/>
                </a:lnTo>
                <a:lnTo>
                  <a:pt x="0" y="0"/>
                </a:lnTo>
                <a:close/>
              </a:path>
            </a:pathLst>
          </a:custGeom>
          <a:blipFill>
            <a:blip r:embed="rId7"/>
            <a:stretch>
              <a:fillRect l="0" t="0" r="0" b="0"/>
            </a:stretch>
          </a:blipFill>
        </p:spPr>
      </p:sp>
      <p:sp>
        <p:nvSpPr>
          <p:cNvPr name="TextBox 18" id="18"/>
          <p:cNvSpPr txBox="true"/>
          <p:nvPr/>
        </p:nvSpPr>
        <p:spPr>
          <a:xfrm rot="0">
            <a:off x="7847490" y="265901"/>
            <a:ext cx="9578313" cy="1024891"/>
          </a:xfrm>
          <a:prstGeom prst="rect">
            <a:avLst/>
          </a:prstGeom>
        </p:spPr>
        <p:txBody>
          <a:bodyPr anchor="t" rtlCol="false" tIns="0" lIns="0" bIns="0" rIns="0">
            <a:spAutoFit/>
          </a:bodyPr>
          <a:lstStyle/>
          <a:p>
            <a:pPr algn="l">
              <a:lnSpc>
                <a:spcPts val="7680"/>
              </a:lnSpc>
            </a:pPr>
            <a:r>
              <a:rPr lang="en-US" sz="8000">
                <a:solidFill>
                  <a:srgbClr val="FFB000"/>
                </a:solidFill>
                <a:latin typeface="Anton"/>
                <a:ea typeface="Anton"/>
                <a:cs typeface="Anton"/>
                <a:sym typeface="Anton"/>
              </a:rPr>
              <a:t>AVG_PIZZAS_PER_ORDERS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660788" y="3334507"/>
            <a:ext cx="10442767" cy="3104606"/>
          </a:xfrm>
          <a:custGeom>
            <a:avLst/>
            <a:gdLst/>
            <a:ahLst/>
            <a:cxnLst/>
            <a:rect r="r" b="b" t="t" l="l"/>
            <a:pathLst>
              <a:path h="3104606" w="10442767">
                <a:moveTo>
                  <a:pt x="0" y="0"/>
                </a:moveTo>
                <a:lnTo>
                  <a:pt x="10442767" y="0"/>
                </a:lnTo>
                <a:lnTo>
                  <a:pt x="10442767" y="3104606"/>
                </a:lnTo>
                <a:lnTo>
                  <a:pt x="0" y="3104606"/>
                </a:lnTo>
                <a:lnTo>
                  <a:pt x="0" y="0"/>
                </a:lnTo>
                <a:close/>
              </a:path>
            </a:pathLst>
          </a:custGeom>
          <a:blipFill>
            <a:blip r:embed="rId3"/>
            <a:stretch>
              <a:fillRect l="0" t="0" r="0" b="0"/>
            </a:stretch>
          </a:blipFill>
        </p:spPr>
      </p:sp>
      <p:sp>
        <p:nvSpPr>
          <p:cNvPr name="Freeform 10" id="10"/>
          <p:cNvSpPr/>
          <p:nvPr/>
        </p:nvSpPr>
        <p:spPr>
          <a:xfrm flipH="false" flipV="false" rot="0">
            <a:off x="12859660" y="3048064"/>
            <a:ext cx="4021872" cy="4891466"/>
          </a:xfrm>
          <a:custGeom>
            <a:avLst/>
            <a:gdLst/>
            <a:ahLst/>
            <a:cxnLst/>
            <a:rect r="r" b="b" t="t" l="l"/>
            <a:pathLst>
              <a:path h="4891466" w="4021872">
                <a:moveTo>
                  <a:pt x="0" y="0"/>
                </a:moveTo>
                <a:lnTo>
                  <a:pt x="4021872" y="0"/>
                </a:lnTo>
                <a:lnTo>
                  <a:pt x="4021872" y="4891466"/>
                </a:lnTo>
                <a:lnTo>
                  <a:pt x="0" y="4891466"/>
                </a:lnTo>
                <a:lnTo>
                  <a:pt x="0" y="0"/>
                </a:lnTo>
                <a:close/>
              </a:path>
            </a:pathLst>
          </a:custGeom>
          <a:blipFill>
            <a:blip r:embed="rId4"/>
            <a:stretch>
              <a:fillRect l="0" t="0" r="0" b="0"/>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4709974" y="302450"/>
            <a:ext cx="8557212" cy="1097279"/>
          </a:xfrm>
          <a:prstGeom prst="rect">
            <a:avLst/>
          </a:prstGeom>
        </p:spPr>
        <p:txBody>
          <a:bodyPr anchor="t" rtlCol="false" tIns="0" lIns="0" bIns="0" rIns="0">
            <a:spAutoFit/>
          </a:bodyPr>
          <a:lstStyle/>
          <a:p>
            <a:pPr algn="l" marL="0" indent="0" lvl="0">
              <a:lnSpc>
                <a:spcPts val="8159"/>
              </a:lnSpc>
              <a:spcBef>
                <a:spcPct val="0"/>
              </a:spcBef>
            </a:pPr>
            <a:r>
              <a:rPr lang="en-US" sz="8499">
                <a:solidFill>
                  <a:srgbClr val="FFB000"/>
                </a:solidFill>
                <a:latin typeface="Anton"/>
                <a:ea typeface="Anton"/>
                <a:cs typeface="Anton"/>
                <a:sym typeface="Anton"/>
              </a:rPr>
              <a:t>CHARTS REQUIRMENT</a:t>
            </a:r>
          </a:p>
        </p:txBody>
      </p:sp>
      <p:sp>
        <p:nvSpPr>
          <p:cNvPr name="TextBox 14" id="14"/>
          <p:cNvSpPr txBox="true"/>
          <p:nvPr/>
        </p:nvSpPr>
        <p:spPr>
          <a:xfrm rot="0">
            <a:off x="4857124" y="1586420"/>
            <a:ext cx="8002536" cy="657225"/>
          </a:xfrm>
          <a:prstGeom prst="rect">
            <a:avLst/>
          </a:prstGeom>
        </p:spPr>
        <p:txBody>
          <a:bodyPr anchor="t" rtlCol="false" tIns="0" lIns="0" bIns="0" rIns="0">
            <a:spAutoFit/>
          </a:bodyPr>
          <a:lstStyle/>
          <a:p>
            <a:pPr algn="l" marL="0" indent="0" lvl="0">
              <a:lnSpc>
                <a:spcPts val="4800"/>
              </a:lnSpc>
              <a:spcBef>
                <a:spcPct val="0"/>
              </a:spcBef>
            </a:pPr>
            <a:r>
              <a:rPr lang="en-US" sz="5000">
                <a:solidFill>
                  <a:srgbClr val="FFB000"/>
                </a:solidFill>
                <a:latin typeface="Anton"/>
                <a:ea typeface="Anton"/>
                <a:cs typeface="Anton"/>
                <a:sym typeface="Anton"/>
              </a:rPr>
              <a:t>DAILY TRENDS FOR  TOTAL ORDERS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68167" y="6679331"/>
            <a:ext cx="10351125" cy="9869745"/>
            <a:chOff x="0" y="0"/>
            <a:chExt cx="812800" cy="775001"/>
          </a:xfrm>
        </p:grpSpPr>
        <p:sp>
          <p:nvSpPr>
            <p:cNvPr name="Freeform 3" id="3"/>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4" id="4"/>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5" id="5"/>
          <p:cNvSpPr/>
          <p:nvPr/>
        </p:nvSpPr>
        <p:spPr>
          <a:xfrm flipH="false" flipV="false" rot="0">
            <a:off x="614537" y="2319355"/>
            <a:ext cx="8239900" cy="8229600"/>
          </a:xfrm>
          <a:custGeom>
            <a:avLst/>
            <a:gdLst/>
            <a:ahLst/>
            <a:cxnLst/>
            <a:rect r="r" b="b" t="t" l="l"/>
            <a:pathLst>
              <a:path h="8229600" w="8239900">
                <a:moveTo>
                  <a:pt x="0" y="0"/>
                </a:moveTo>
                <a:lnTo>
                  <a:pt x="8239900" y="0"/>
                </a:lnTo>
                <a:lnTo>
                  <a:pt x="8239900" y="8229600"/>
                </a:lnTo>
                <a:lnTo>
                  <a:pt x="0" y="8229600"/>
                </a:lnTo>
                <a:lnTo>
                  <a:pt x="0" y="0"/>
                </a:lnTo>
                <a:close/>
              </a:path>
            </a:pathLst>
          </a:custGeom>
          <a:blipFill>
            <a:blip r:embed="rId2"/>
            <a:stretch>
              <a:fillRect l="0" t="0" r="0" b="0"/>
            </a:stretch>
          </a:blipFill>
        </p:spPr>
      </p:sp>
      <p:grpSp>
        <p:nvGrpSpPr>
          <p:cNvPr name="Group 6" id="6"/>
          <p:cNvGrpSpPr/>
          <p:nvPr/>
        </p:nvGrpSpPr>
        <p:grpSpPr>
          <a:xfrm rot="0">
            <a:off x="8854437" y="-6571985"/>
            <a:ext cx="13673516" cy="1367351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5716250" y="9744075"/>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2" id="12"/>
          <p:cNvSpPr/>
          <p:nvPr/>
        </p:nvSpPr>
        <p:spPr>
          <a:xfrm flipH="false" flipV="false" rot="0">
            <a:off x="-1386147" y="2319355"/>
            <a:ext cx="2249352" cy="1231009"/>
          </a:xfrm>
          <a:custGeom>
            <a:avLst/>
            <a:gdLst/>
            <a:ahLst/>
            <a:cxnLst/>
            <a:rect r="r" b="b" t="t" l="l"/>
            <a:pathLst>
              <a:path h="1231009" w="2249352">
                <a:moveTo>
                  <a:pt x="0" y="0"/>
                </a:moveTo>
                <a:lnTo>
                  <a:pt x="2249351" y="0"/>
                </a:lnTo>
                <a:lnTo>
                  <a:pt x="2249351" y="1231009"/>
                </a:lnTo>
                <a:lnTo>
                  <a:pt x="0" y="12310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13350" y="2489214"/>
            <a:ext cx="7288383" cy="6769086"/>
          </a:xfrm>
          <a:custGeom>
            <a:avLst/>
            <a:gdLst/>
            <a:ahLst/>
            <a:cxnLst/>
            <a:rect r="r" b="b" t="t" l="l"/>
            <a:pathLst>
              <a:path h="6769086" w="7288383">
                <a:moveTo>
                  <a:pt x="0" y="0"/>
                </a:moveTo>
                <a:lnTo>
                  <a:pt x="7288383" y="0"/>
                </a:lnTo>
                <a:lnTo>
                  <a:pt x="7288383" y="6769086"/>
                </a:lnTo>
                <a:lnTo>
                  <a:pt x="0" y="6769086"/>
                </a:lnTo>
                <a:lnTo>
                  <a:pt x="0" y="0"/>
                </a:lnTo>
                <a:close/>
              </a:path>
            </a:pathLst>
          </a:custGeom>
          <a:blipFill>
            <a:blip r:embed="rId5"/>
            <a:stretch>
              <a:fillRect l="0" t="0" r="0" b="0"/>
            </a:stretch>
          </a:blipFill>
        </p:spPr>
      </p:sp>
      <p:sp>
        <p:nvSpPr>
          <p:cNvPr name="Freeform 15" id="15"/>
          <p:cNvSpPr/>
          <p:nvPr/>
        </p:nvSpPr>
        <p:spPr>
          <a:xfrm flipH="false" flipV="false" rot="3477770">
            <a:off x="-1241294" y="4037912"/>
            <a:ext cx="4539987" cy="4307313"/>
          </a:xfrm>
          <a:custGeom>
            <a:avLst/>
            <a:gdLst/>
            <a:ahLst/>
            <a:cxnLst/>
            <a:rect r="r" b="b" t="t" l="l"/>
            <a:pathLst>
              <a:path h="4307313" w="4539987">
                <a:moveTo>
                  <a:pt x="0" y="0"/>
                </a:moveTo>
                <a:lnTo>
                  <a:pt x="4539988" y="0"/>
                </a:lnTo>
                <a:lnTo>
                  <a:pt x="4539988" y="4307313"/>
                </a:lnTo>
                <a:lnTo>
                  <a:pt x="0" y="4307313"/>
                </a:lnTo>
                <a:lnTo>
                  <a:pt x="0" y="0"/>
                </a:lnTo>
                <a:close/>
              </a:path>
            </a:pathLst>
          </a:custGeom>
          <a:blipFill>
            <a:blip r:embed="rId6"/>
            <a:stretch>
              <a:fillRect l="0" t="0" r="0" b="0"/>
            </a:stretch>
          </a:blipFill>
        </p:spPr>
      </p:sp>
      <p:sp>
        <p:nvSpPr>
          <p:cNvPr name="Freeform 16" id="16"/>
          <p:cNvSpPr/>
          <p:nvPr/>
        </p:nvSpPr>
        <p:spPr>
          <a:xfrm flipH="false" flipV="false" rot="0">
            <a:off x="7841341" y="1481603"/>
            <a:ext cx="10446659" cy="2968655"/>
          </a:xfrm>
          <a:custGeom>
            <a:avLst/>
            <a:gdLst/>
            <a:ahLst/>
            <a:cxnLst/>
            <a:rect r="r" b="b" t="t" l="l"/>
            <a:pathLst>
              <a:path h="2968655" w="10446659">
                <a:moveTo>
                  <a:pt x="0" y="0"/>
                </a:moveTo>
                <a:lnTo>
                  <a:pt x="10446659" y="0"/>
                </a:lnTo>
                <a:lnTo>
                  <a:pt x="10446659" y="2968655"/>
                </a:lnTo>
                <a:lnTo>
                  <a:pt x="0" y="2968655"/>
                </a:lnTo>
                <a:lnTo>
                  <a:pt x="0" y="0"/>
                </a:lnTo>
                <a:close/>
              </a:path>
            </a:pathLst>
          </a:custGeom>
          <a:blipFill>
            <a:blip r:embed="rId7"/>
            <a:stretch>
              <a:fillRect l="0" t="0" r="0" b="0"/>
            </a:stretch>
          </a:blipFill>
        </p:spPr>
      </p:sp>
      <p:sp>
        <p:nvSpPr>
          <p:cNvPr name="Freeform 17" id="17"/>
          <p:cNvSpPr/>
          <p:nvPr/>
        </p:nvSpPr>
        <p:spPr>
          <a:xfrm flipH="false" flipV="false" rot="0">
            <a:off x="10923026" y="4621708"/>
            <a:ext cx="2846855" cy="5197806"/>
          </a:xfrm>
          <a:custGeom>
            <a:avLst/>
            <a:gdLst/>
            <a:ahLst/>
            <a:cxnLst/>
            <a:rect r="r" b="b" t="t" l="l"/>
            <a:pathLst>
              <a:path h="5197806" w="2846855">
                <a:moveTo>
                  <a:pt x="0" y="0"/>
                </a:moveTo>
                <a:lnTo>
                  <a:pt x="2846855" y="0"/>
                </a:lnTo>
                <a:lnTo>
                  <a:pt x="2846855" y="5197806"/>
                </a:lnTo>
                <a:lnTo>
                  <a:pt x="0" y="5197806"/>
                </a:lnTo>
                <a:lnTo>
                  <a:pt x="0" y="0"/>
                </a:lnTo>
                <a:close/>
              </a:path>
            </a:pathLst>
          </a:custGeom>
          <a:blipFill>
            <a:blip r:embed="rId8"/>
            <a:stretch>
              <a:fillRect l="0" t="0" r="0" b="0"/>
            </a:stretch>
          </a:blipFill>
        </p:spPr>
      </p:sp>
      <p:sp>
        <p:nvSpPr>
          <p:cNvPr name="TextBox 18" id="18"/>
          <p:cNvSpPr txBox="true"/>
          <p:nvPr/>
        </p:nvSpPr>
        <p:spPr>
          <a:xfrm rot="0">
            <a:off x="11951749" y="1122903"/>
            <a:ext cx="927891" cy="358701"/>
          </a:xfrm>
          <a:prstGeom prst="rect">
            <a:avLst/>
          </a:prstGeom>
        </p:spPr>
        <p:txBody>
          <a:bodyPr anchor="t" rtlCol="false" tIns="0" lIns="0" bIns="0" rIns="0">
            <a:spAutoFit/>
          </a:bodyPr>
          <a:lstStyle/>
          <a:p>
            <a:pPr algn="ctr">
              <a:lnSpc>
                <a:spcPts val="2799"/>
              </a:lnSpc>
              <a:spcBef>
                <a:spcPct val="0"/>
              </a:spcBef>
            </a:pPr>
            <a:r>
              <a:rPr lang="en-US" b="true" sz="1999">
                <a:solidFill>
                  <a:srgbClr val="340808"/>
                </a:solidFill>
                <a:latin typeface="Poppins Bold"/>
                <a:ea typeface="Poppins Bold"/>
                <a:cs typeface="Poppins Bold"/>
                <a:sym typeface="Poppins Bold"/>
              </a:rPr>
              <a:t>Home</a:t>
            </a:r>
          </a:p>
        </p:txBody>
      </p:sp>
      <p:sp>
        <p:nvSpPr>
          <p:cNvPr name="TextBox 19" id="19"/>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20" id="20"/>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21" id="21"/>
          <p:cNvSpPr txBox="true"/>
          <p:nvPr/>
        </p:nvSpPr>
        <p:spPr>
          <a:xfrm rot="0">
            <a:off x="1727214" y="212313"/>
            <a:ext cx="15148565" cy="1097279"/>
          </a:xfrm>
          <a:prstGeom prst="rect">
            <a:avLst/>
          </a:prstGeom>
        </p:spPr>
        <p:txBody>
          <a:bodyPr anchor="t" rtlCol="false" tIns="0" lIns="0" bIns="0" rIns="0">
            <a:spAutoFit/>
          </a:bodyPr>
          <a:lstStyle/>
          <a:p>
            <a:pPr algn="l">
              <a:lnSpc>
                <a:spcPts val="8159"/>
              </a:lnSpc>
            </a:pPr>
            <a:r>
              <a:rPr lang="en-US" sz="8499">
                <a:solidFill>
                  <a:srgbClr val="FFB000"/>
                </a:solidFill>
                <a:latin typeface="Anton"/>
                <a:ea typeface="Anton"/>
                <a:cs typeface="Anton"/>
                <a:sym typeface="Anton"/>
              </a:rPr>
              <a:t>MONTHLY TRENDS FOR TOTAL ORDERS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2879640" y="6495322"/>
            <a:ext cx="9558443" cy="95584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6688054" y="9515692"/>
            <a:ext cx="2249352" cy="1231009"/>
          </a:xfrm>
          <a:custGeom>
            <a:avLst/>
            <a:gdLst/>
            <a:ahLst/>
            <a:cxnLst/>
            <a:rect r="r" b="b" t="t" l="l"/>
            <a:pathLst>
              <a:path h="1231009" w="2249352">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302405">
            <a:off x="-1609206" y="81637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4"/>
            <a:stretch>
              <a:fillRect l="0" t="0" r="0" b="0"/>
            </a:stretch>
          </a:blipFill>
        </p:spPr>
      </p:sp>
      <p:grpSp>
        <p:nvGrpSpPr>
          <p:cNvPr name="Group 10" id="10"/>
          <p:cNvGrpSpPr/>
          <p:nvPr/>
        </p:nvGrpSpPr>
        <p:grpSpPr>
          <a:xfrm rot="0">
            <a:off x="12061175" y="2576747"/>
            <a:ext cx="6226825" cy="6938945"/>
            <a:chOff x="0" y="0"/>
            <a:chExt cx="729385" cy="812800"/>
          </a:xfrm>
        </p:grpSpPr>
        <p:sp>
          <p:nvSpPr>
            <p:cNvPr name="Freeform 11" id="11"/>
            <p:cNvSpPr/>
            <p:nvPr/>
          </p:nvSpPr>
          <p:spPr>
            <a:xfrm flipH="false" flipV="false" rot="0">
              <a:off x="0" y="0"/>
              <a:ext cx="729385" cy="812800"/>
            </a:xfrm>
            <a:custGeom>
              <a:avLst/>
              <a:gdLst/>
              <a:ahLst/>
              <a:cxnLst/>
              <a:rect r="r" b="b" t="t" l="l"/>
              <a:pathLst>
                <a:path h="812800" w="729385">
                  <a:moveTo>
                    <a:pt x="28596" y="0"/>
                  </a:moveTo>
                  <a:lnTo>
                    <a:pt x="700789" y="0"/>
                  </a:lnTo>
                  <a:cubicBezTo>
                    <a:pt x="708373" y="0"/>
                    <a:pt x="715647" y="3013"/>
                    <a:pt x="721009" y="8376"/>
                  </a:cubicBezTo>
                  <a:cubicBezTo>
                    <a:pt x="726372" y="13739"/>
                    <a:pt x="729385" y="21012"/>
                    <a:pt x="729385" y="28596"/>
                  </a:cubicBezTo>
                  <a:lnTo>
                    <a:pt x="729385" y="784204"/>
                  </a:lnTo>
                  <a:cubicBezTo>
                    <a:pt x="729385" y="791788"/>
                    <a:pt x="726372" y="799061"/>
                    <a:pt x="721009" y="804424"/>
                  </a:cubicBezTo>
                  <a:cubicBezTo>
                    <a:pt x="715647" y="809787"/>
                    <a:pt x="708373" y="812800"/>
                    <a:pt x="700789" y="812800"/>
                  </a:cubicBezTo>
                  <a:lnTo>
                    <a:pt x="28596" y="812800"/>
                  </a:lnTo>
                  <a:cubicBezTo>
                    <a:pt x="21012" y="812800"/>
                    <a:pt x="13739" y="809787"/>
                    <a:pt x="8376" y="804424"/>
                  </a:cubicBezTo>
                  <a:cubicBezTo>
                    <a:pt x="3013" y="799061"/>
                    <a:pt x="0" y="791788"/>
                    <a:pt x="0" y="784204"/>
                  </a:cubicBezTo>
                  <a:lnTo>
                    <a:pt x="0" y="28596"/>
                  </a:lnTo>
                  <a:cubicBezTo>
                    <a:pt x="0" y="21012"/>
                    <a:pt x="3013" y="13739"/>
                    <a:pt x="8376" y="8376"/>
                  </a:cubicBezTo>
                  <a:cubicBezTo>
                    <a:pt x="13739" y="3013"/>
                    <a:pt x="21012" y="0"/>
                    <a:pt x="28596" y="0"/>
                  </a:cubicBezTo>
                  <a:close/>
                </a:path>
              </a:pathLst>
            </a:custGeom>
            <a:blipFill>
              <a:blip r:embed="rId5"/>
              <a:stretch>
                <a:fillRect l="-33629" t="0" r="-33629" b="0"/>
              </a:stretch>
            </a:blipFill>
            <a:ln w="152400" cap="rnd">
              <a:solidFill>
                <a:srgbClr val="FFFFFF"/>
              </a:solidFill>
              <a:prstDash val="solid"/>
              <a:round/>
            </a:ln>
          </p:spPr>
        </p:sp>
      </p:grpSp>
      <p:sp>
        <p:nvSpPr>
          <p:cNvPr name="Freeform 12" id="12"/>
          <p:cNvSpPr/>
          <p:nvPr/>
        </p:nvSpPr>
        <p:spPr>
          <a:xfrm flipH="false" flipV="false" rot="0">
            <a:off x="392458" y="2035612"/>
            <a:ext cx="11301259" cy="1515186"/>
          </a:xfrm>
          <a:custGeom>
            <a:avLst/>
            <a:gdLst/>
            <a:ahLst/>
            <a:cxnLst/>
            <a:rect r="r" b="b" t="t" l="l"/>
            <a:pathLst>
              <a:path h="1515186" w="11301259">
                <a:moveTo>
                  <a:pt x="0" y="0"/>
                </a:moveTo>
                <a:lnTo>
                  <a:pt x="11301259" y="0"/>
                </a:lnTo>
                <a:lnTo>
                  <a:pt x="11301259" y="1515186"/>
                </a:lnTo>
                <a:lnTo>
                  <a:pt x="0" y="1515186"/>
                </a:lnTo>
                <a:lnTo>
                  <a:pt x="0" y="0"/>
                </a:lnTo>
                <a:close/>
              </a:path>
            </a:pathLst>
          </a:custGeom>
          <a:blipFill>
            <a:blip r:embed="rId6"/>
            <a:stretch>
              <a:fillRect l="0" t="0" r="0" b="-1624"/>
            </a:stretch>
          </a:blipFill>
        </p:spPr>
      </p:sp>
      <p:sp>
        <p:nvSpPr>
          <p:cNvPr name="Freeform 13" id="13"/>
          <p:cNvSpPr/>
          <p:nvPr/>
        </p:nvSpPr>
        <p:spPr>
          <a:xfrm flipH="false" flipV="false" rot="0">
            <a:off x="660788" y="3988826"/>
            <a:ext cx="9067094" cy="4114786"/>
          </a:xfrm>
          <a:custGeom>
            <a:avLst/>
            <a:gdLst/>
            <a:ahLst/>
            <a:cxnLst/>
            <a:rect r="r" b="b" t="t" l="l"/>
            <a:pathLst>
              <a:path h="4114786" w="9067094">
                <a:moveTo>
                  <a:pt x="0" y="0"/>
                </a:moveTo>
                <a:lnTo>
                  <a:pt x="9067094" y="0"/>
                </a:lnTo>
                <a:lnTo>
                  <a:pt x="9067094" y="4114786"/>
                </a:lnTo>
                <a:lnTo>
                  <a:pt x="0" y="4114786"/>
                </a:lnTo>
                <a:lnTo>
                  <a:pt x="0" y="0"/>
                </a:lnTo>
                <a:close/>
              </a:path>
            </a:pathLst>
          </a:custGeom>
          <a:blipFill>
            <a:blip r:embed="rId7"/>
            <a:stretch>
              <a:fillRect l="0" t="0" r="0" b="0"/>
            </a:stretch>
          </a:blipFill>
        </p:spPr>
      </p:sp>
      <p:sp>
        <p:nvSpPr>
          <p:cNvPr name="TextBox 14" id="14"/>
          <p:cNvSpPr txBox="true"/>
          <p:nvPr/>
        </p:nvSpPr>
        <p:spPr>
          <a:xfrm rot="0">
            <a:off x="203432" y="431667"/>
            <a:ext cx="13072787" cy="1097279"/>
          </a:xfrm>
          <a:prstGeom prst="rect">
            <a:avLst/>
          </a:prstGeom>
        </p:spPr>
        <p:txBody>
          <a:bodyPr anchor="t" rtlCol="false" tIns="0" lIns="0" bIns="0" rIns="0">
            <a:spAutoFit/>
          </a:bodyPr>
          <a:lstStyle/>
          <a:p>
            <a:pPr algn="l" marL="0" indent="0" lvl="0">
              <a:lnSpc>
                <a:spcPts val="8159"/>
              </a:lnSpc>
              <a:spcBef>
                <a:spcPct val="0"/>
              </a:spcBef>
            </a:pPr>
            <a:r>
              <a:rPr lang="en-US" sz="8499">
                <a:solidFill>
                  <a:srgbClr val="FFB000"/>
                </a:solidFill>
                <a:latin typeface="Anton"/>
                <a:ea typeface="Anton"/>
                <a:cs typeface="Anton"/>
                <a:sym typeface="Anton"/>
              </a:rPr>
              <a:t>% OF SALES BY PIZZA CATEGORY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2879640" y="6495322"/>
            <a:ext cx="9558443" cy="95584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6688054" y="9515692"/>
            <a:ext cx="2249352" cy="1231009"/>
          </a:xfrm>
          <a:custGeom>
            <a:avLst/>
            <a:gdLst/>
            <a:ahLst/>
            <a:cxnLst/>
            <a:rect r="r" b="b" t="t" l="l"/>
            <a:pathLst>
              <a:path h="1231009" w="2249352">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302405">
            <a:off x="-1609206" y="81637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4"/>
            <a:stretch>
              <a:fillRect l="0" t="0" r="0" b="0"/>
            </a:stretch>
          </a:blipFill>
        </p:spPr>
      </p:sp>
      <p:grpSp>
        <p:nvGrpSpPr>
          <p:cNvPr name="Group 10" id="10"/>
          <p:cNvGrpSpPr/>
          <p:nvPr/>
        </p:nvGrpSpPr>
        <p:grpSpPr>
          <a:xfrm rot="0">
            <a:off x="12061175" y="2576747"/>
            <a:ext cx="6226825" cy="6938945"/>
            <a:chOff x="0" y="0"/>
            <a:chExt cx="729385" cy="812800"/>
          </a:xfrm>
        </p:grpSpPr>
        <p:sp>
          <p:nvSpPr>
            <p:cNvPr name="Freeform 11" id="11"/>
            <p:cNvSpPr/>
            <p:nvPr/>
          </p:nvSpPr>
          <p:spPr>
            <a:xfrm flipH="false" flipV="false" rot="0">
              <a:off x="0" y="0"/>
              <a:ext cx="729385" cy="812800"/>
            </a:xfrm>
            <a:custGeom>
              <a:avLst/>
              <a:gdLst/>
              <a:ahLst/>
              <a:cxnLst/>
              <a:rect r="r" b="b" t="t" l="l"/>
              <a:pathLst>
                <a:path h="812800" w="729385">
                  <a:moveTo>
                    <a:pt x="28596" y="0"/>
                  </a:moveTo>
                  <a:lnTo>
                    <a:pt x="700789" y="0"/>
                  </a:lnTo>
                  <a:cubicBezTo>
                    <a:pt x="708373" y="0"/>
                    <a:pt x="715647" y="3013"/>
                    <a:pt x="721009" y="8376"/>
                  </a:cubicBezTo>
                  <a:cubicBezTo>
                    <a:pt x="726372" y="13739"/>
                    <a:pt x="729385" y="21012"/>
                    <a:pt x="729385" y="28596"/>
                  </a:cubicBezTo>
                  <a:lnTo>
                    <a:pt x="729385" y="784204"/>
                  </a:lnTo>
                  <a:cubicBezTo>
                    <a:pt x="729385" y="791788"/>
                    <a:pt x="726372" y="799061"/>
                    <a:pt x="721009" y="804424"/>
                  </a:cubicBezTo>
                  <a:cubicBezTo>
                    <a:pt x="715647" y="809787"/>
                    <a:pt x="708373" y="812800"/>
                    <a:pt x="700789" y="812800"/>
                  </a:cubicBezTo>
                  <a:lnTo>
                    <a:pt x="28596" y="812800"/>
                  </a:lnTo>
                  <a:cubicBezTo>
                    <a:pt x="21012" y="812800"/>
                    <a:pt x="13739" y="809787"/>
                    <a:pt x="8376" y="804424"/>
                  </a:cubicBezTo>
                  <a:cubicBezTo>
                    <a:pt x="3013" y="799061"/>
                    <a:pt x="0" y="791788"/>
                    <a:pt x="0" y="784204"/>
                  </a:cubicBezTo>
                  <a:lnTo>
                    <a:pt x="0" y="28596"/>
                  </a:lnTo>
                  <a:cubicBezTo>
                    <a:pt x="0" y="21012"/>
                    <a:pt x="3013" y="13739"/>
                    <a:pt x="8376" y="8376"/>
                  </a:cubicBezTo>
                  <a:cubicBezTo>
                    <a:pt x="13739" y="3013"/>
                    <a:pt x="21012" y="0"/>
                    <a:pt x="28596" y="0"/>
                  </a:cubicBezTo>
                  <a:close/>
                </a:path>
              </a:pathLst>
            </a:custGeom>
            <a:blipFill>
              <a:blip r:embed="rId5"/>
              <a:stretch>
                <a:fillRect l="-33629" t="0" r="-33629" b="0"/>
              </a:stretch>
            </a:blipFill>
            <a:ln w="152400" cap="rnd">
              <a:solidFill>
                <a:srgbClr val="FFFFFF"/>
              </a:solidFill>
              <a:prstDash val="solid"/>
              <a:round/>
            </a:ln>
          </p:spPr>
        </p:sp>
      </p:grpSp>
      <p:sp>
        <p:nvSpPr>
          <p:cNvPr name="Freeform 12" id="12"/>
          <p:cNvSpPr/>
          <p:nvPr/>
        </p:nvSpPr>
        <p:spPr>
          <a:xfrm flipH="false" flipV="false" rot="0">
            <a:off x="660788" y="4182969"/>
            <a:ext cx="8956939" cy="4046336"/>
          </a:xfrm>
          <a:custGeom>
            <a:avLst/>
            <a:gdLst/>
            <a:ahLst/>
            <a:cxnLst/>
            <a:rect r="r" b="b" t="t" l="l"/>
            <a:pathLst>
              <a:path h="4046336" w="8956939">
                <a:moveTo>
                  <a:pt x="0" y="0"/>
                </a:moveTo>
                <a:lnTo>
                  <a:pt x="8956939" y="0"/>
                </a:lnTo>
                <a:lnTo>
                  <a:pt x="8956939" y="4046336"/>
                </a:lnTo>
                <a:lnTo>
                  <a:pt x="0" y="4046336"/>
                </a:lnTo>
                <a:lnTo>
                  <a:pt x="0" y="0"/>
                </a:lnTo>
                <a:close/>
              </a:path>
            </a:pathLst>
          </a:custGeom>
          <a:blipFill>
            <a:blip r:embed="rId6"/>
            <a:stretch>
              <a:fillRect l="0" t="0" r="0" b="0"/>
            </a:stretch>
          </a:blipFill>
        </p:spPr>
      </p:sp>
      <p:sp>
        <p:nvSpPr>
          <p:cNvPr name="Freeform 13" id="13"/>
          <p:cNvSpPr/>
          <p:nvPr/>
        </p:nvSpPr>
        <p:spPr>
          <a:xfrm flipH="false" flipV="false" rot="0">
            <a:off x="466290" y="2183719"/>
            <a:ext cx="11301259" cy="1342025"/>
          </a:xfrm>
          <a:custGeom>
            <a:avLst/>
            <a:gdLst/>
            <a:ahLst/>
            <a:cxnLst/>
            <a:rect r="r" b="b" t="t" l="l"/>
            <a:pathLst>
              <a:path h="1342025" w="11301259">
                <a:moveTo>
                  <a:pt x="0" y="0"/>
                </a:moveTo>
                <a:lnTo>
                  <a:pt x="11301258" y="0"/>
                </a:lnTo>
                <a:lnTo>
                  <a:pt x="11301258" y="1342025"/>
                </a:lnTo>
                <a:lnTo>
                  <a:pt x="0" y="1342025"/>
                </a:lnTo>
                <a:lnTo>
                  <a:pt x="0" y="0"/>
                </a:lnTo>
                <a:close/>
              </a:path>
            </a:pathLst>
          </a:custGeom>
          <a:blipFill>
            <a:blip r:embed="rId7"/>
            <a:stretch>
              <a:fillRect l="0" t="0" r="0" b="0"/>
            </a:stretch>
          </a:blipFill>
        </p:spPr>
      </p:sp>
      <p:sp>
        <p:nvSpPr>
          <p:cNvPr name="TextBox 14" id="14"/>
          <p:cNvSpPr txBox="true"/>
          <p:nvPr/>
        </p:nvSpPr>
        <p:spPr>
          <a:xfrm rot="0">
            <a:off x="203432" y="431667"/>
            <a:ext cx="10857850" cy="1097279"/>
          </a:xfrm>
          <a:prstGeom prst="rect">
            <a:avLst/>
          </a:prstGeom>
        </p:spPr>
        <p:txBody>
          <a:bodyPr anchor="t" rtlCol="false" tIns="0" lIns="0" bIns="0" rIns="0">
            <a:spAutoFit/>
          </a:bodyPr>
          <a:lstStyle/>
          <a:p>
            <a:pPr algn="l" marL="0" indent="0" lvl="0">
              <a:lnSpc>
                <a:spcPts val="8159"/>
              </a:lnSpc>
              <a:spcBef>
                <a:spcPct val="0"/>
              </a:spcBef>
            </a:pPr>
            <a:r>
              <a:rPr lang="en-US" sz="8499">
                <a:solidFill>
                  <a:srgbClr val="FFB000"/>
                </a:solidFill>
                <a:latin typeface="Anton"/>
                <a:ea typeface="Anton"/>
                <a:cs typeface="Anton"/>
                <a:sym typeface="Anton"/>
              </a:rPr>
              <a:t>% OF SALES BY PIZZA SIZE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68167" y="6679331"/>
            <a:ext cx="10351125" cy="9869745"/>
            <a:chOff x="0" y="0"/>
            <a:chExt cx="812800" cy="775001"/>
          </a:xfrm>
        </p:grpSpPr>
        <p:sp>
          <p:nvSpPr>
            <p:cNvPr name="Freeform 3" id="3"/>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4" id="4"/>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5" id="5"/>
          <p:cNvSpPr/>
          <p:nvPr/>
        </p:nvSpPr>
        <p:spPr>
          <a:xfrm flipH="false" flipV="false" rot="0">
            <a:off x="-392409" y="2319355"/>
            <a:ext cx="8239900" cy="8229600"/>
          </a:xfrm>
          <a:custGeom>
            <a:avLst/>
            <a:gdLst/>
            <a:ahLst/>
            <a:cxnLst/>
            <a:rect r="r" b="b" t="t" l="l"/>
            <a:pathLst>
              <a:path h="8229600" w="8239900">
                <a:moveTo>
                  <a:pt x="0" y="0"/>
                </a:moveTo>
                <a:lnTo>
                  <a:pt x="8239899" y="0"/>
                </a:lnTo>
                <a:lnTo>
                  <a:pt x="8239899" y="8229600"/>
                </a:lnTo>
                <a:lnTo>
                  <a:pt x="0" y="8229600"/>
                </a:lnTo>
                <a:lnTo>
                  <a:pt x="0" y="0"/>
                </a:lnTo>
                <a:close/>
              </a:path>
            </a:pathLst>
          </a:custGeom>
          <a:blipFill>
            <a:blip r:embed="rId2"/>
            <a:stretch>
              <a:fillRect l="0" t="0" r="0" b="0"/>
            </a:stretch>
          </a:blipFill>
        </p:spPr>
      </p:sp>
      <p:grpSp>
        <p:nvGrpSpPr>
          <p:cNvPr name="Group 6" id="6"/>
          <p:cNvGrpSpPr/>
          <p:nvPr/>
        </p:nvGrpSpPr>
        <p:grpSpPr>
          <a:xfrm rot="0">
            <a:off x="8854437" y="-6571985"/>
            <a:ext cx="13673516" cy="1367351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5716250" y="9744075"/>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2" id="12"/>
          <p:cNvSpPr/>
          <p:nvPr/>
        </p:nvSpPr>
        <p:spPr>
          <a:xfrm flipH="false" flipV="false" rot="0">
            <a:off x="-1615803" y="675288"/>
            <a:ext cx="2249352" cy="1231009"/>
          </a:xfrm>
          <a:custGeom>
            <a:avLst/>
            <a:gdLst/>
            <a:ahLst/>
            <a:cxnLst/>
            <a:rect r="r" b="b" t="t" l="l"/>
            <a:pathLst>
              <a:path h="1231009" w="2249352">
                <a:moveTo>
                  <a:pt x="0" y="0"/>
                </a:moveTo>
                <a:lnTo>
                  <a:pt x="2249351" y="0"/>
                </a:lnTo>
                <a:lnTo>
                  <a:pt x="2249351"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05052" y="2590070"/>
            <a:ext cx="6290424" cy="6424166"/>
            <a:chOff x="0" y="0"/>
            <a:chExt cx="736835" cy="752501"/>
          </a:xfrm>
        </p:grpSpPr>
        <p:sp>
          <p:nvSpPr>
            <p:cNvPr name="Freeform 15" id="15"/>
            <p:cNvSpPr/>
            <p:nvPr/>
          </p:nvSpPr>
          <p:spPr>
            <a:xfrm flipH="false" flipV="false" rot="0">
              <a:off x="0" y="0"/>
              <a:ext cx="736835" cy="752501"/>
            </a:xfrm>
            <a:custGeom>
              <a:avLst/>
              <a:gdLst/>
              <a:ahLst/>
              <a:cxnLst/>
              <a:rect r="r" b="b" t="t" l="l"/>
              <a:pathLst>
                <a:path h="752501" w="736835">
                  <a:moveTo>
                    <a:pt x="28307" y="0"/>
                  </a:moveTo>
                  <a:lnTo>
                    <a:pt x="708528" y="0"/>
                  </a:lnTo>
                  <a:cubicBezTo>
                    <a:pt x="716035" y="0"/>
                    <a:pt x="723235" y="2982"/>
                    <a:pt x="728544" y="8291"/>
                  </a:cubicBezTo>
                  <a:cubicBezTo>
                    <a:pt x="733853" y="13600"/>
                    <a:pt x="736835" y="20800"/>
                    <a:pt x="736835" y="28307"/>
                  </a:cubicBezTo>
                  <a:lnTo>
                    <a:pt x="736835" y="724194"/>
                  </a:lnTo>
                  <a:cubicBezTo>
                    <a:pt x="736835" y="739827"/>
                    <a:pt x="724161" y="752501"/>
                    <a:pt x="708528" y="752501"/>
                  </a:cubicBezTo>
                  <a:lnTo>
                    <a:pt x="28307" y="752501"/>
                  </a:lnTo>
                  <a:cubicBezTo>
                    <a:pt x="20800" y="752501"/>
                    <a:pt x="13600" y="749518"/>
                    <a:pt x="8291" y="744210"/>
                  </a:cubicBezTo>
                  <a:cubicBezTo>
                    <a:pt x="2982" y="738901"/>
                    <a:pt x="0" y="731701"/>
                    <a:pt x="0" y="724194"/>
                  </a:cubicBezTo>
                  <a:lnTo>
                    <a:pt x="0" y="28307"/>
                  </a:lnTo>
                  <a:cubicBezTo>
                    <a:pt x="0" y="12674"/>
                    <a:pt x="12674" y="0"/>
                    <a:pt x="28307" y="0"/>
                  </a:cubicBezTo>
                  <a:close/>
                </a:path>
              </a:pathLst>
            </a:custGeom>
            <a:blipFill>
              <a:blip r:embed="rId5"/>
              <a:stretch>
                <a:fillRect l="-1063" t="0" r="-1063" b="0"/>
              </a:stretch>
            </a:blipFill>
            <a:ln w="152400" cap="rnd">
              <a:solidFill>
                <a:srgbClr val="FFFFFF"/>
              </a:solidFill>
              <a:prstDash val="solid"/>
              <a:round/>
            </a:ln>
          </p:spPr>
        </p:sp>
      </p:grpSp>
      <p:sp>
        <p:nvSpPr>
          <p:cNvPr name="Freeform 16" id="16"/>
          <p:cNvSpPr/>
          <p:nvPr/>
        </p:nvSpPr>
        <p:spPr>
          <a:xfrm flipH="false" flipV="false" rot="0">
            <a:off x="7224386" y="1750059"/>
            <a:ext cx="10336377" cy="2701553"/>
          </a:xfrm>
          <a:custGeom>
            <a:avLst/>
            <a:gdLst/>
            <a:ahLst/>
            <a:cxnLst/>
            <a:rect r="r" b="b" t="t" l="l"/>
            <a:pathLst>
              <a:path h="2701553" w="10336377">
                <a:moveTo>
                  <a:pt x="0" y="0"/>
                </a:moveTo>
                <a:lnTo>
                  <a:pt x="10336377" y="0"/>
                </a:lnTo>
                <a:lnTo>
                  <a:pt x="10336377" y="2701553"/>
                </a:lnTo>
                <a:lnTo>
                  <a:pt x="0" y="2701553"/>
                </a:lnTo>
                <a:lnTo>
                  <a:pt x="0" y="0"/>
                </a:lnTo>
                <a:close/>
              </a:path>
            </a:pathLst>
          </a:custGeom>
          <a:blipFill>
            <a:blip r:embed="rId6"/>
            <a:stretch>
              <a:fillRect l="0" t="0" r="0" b="0"/>
            </a:stretch>
          </a:blipFill>
        </p:spPr>
      </p:sp>
      <p:sp>
        <p:nvSpPr>
          <p:cNvPr name="Freeform 17" id="17"/>
          <p:cNvSpPr/>
          <p:nvPr/>
        </p:nvSpPr>
        <p:spPr>
          <a:xfrm flipH="false" flipV="false" rot="0">
            <a:off x="7606586" y="4956132"/>
            <a:ext cx="9128990" cy="4302168"/>
          </a:xfrm>
          <a:custGeom>
            <a:avLst/>
            <a:gdLst/>
            <a:ahLst/>
            <a:cxnLst/>
            <a:rect r="r" b="b" t="t" l="l"/>
            <a:pathLst>
              <a:path h="4302168" w="9128990">
                <a:moveTo>
                  <a:pt x="0" y="0"/>
                </a:moveTo>
                <a:lnTo>
                  <a:pt x="9128990" y="0"/>
                </a:lnTo>
                <a:lnTo>
                  <a:pt x="9128990" y="4302168"/>
                </a:lnTo>
                <a:lnTo>
                  <a:pt x="0" y="4302168"/>
                </a:lnTo>
                <a:lnTo>
                  <a:pt x="0" y="0"/>
                </a:lnTo>
                <a:close/>
              </a:path>
            </a:pathLst>
          </a:custGeom>
          <a:blipFill>
            <a:blip r:embed="rId7"/>
            <a:stretch>
              <a:fillRect l="0" t="0" r="0" b="0"/>
            </a:stretch>
          </a:blipFill>
        </p:spPr>
      </p:sp>
      <p:sp>
        <p:nvSpPr>
          <p:cNvPr name="TextBox 18" id="18"/>
          <p:cNvSpPr txBox="true"/>
          <p:nvPr/>
        </p:nvSpPr>
        <p:spPr>
          <a:xfrm rot="0">
            <a:off x="1807254" y="455273"/>
            <a:ext cx="16272346" cy="1024891"/>
          </a:xfrm>
          <a:prstGeom prst="rect">
            <a:avLst/>
          </a:prstGeom>
        </p:spPr>
        <p:txBody>
          <a:bodyPr anchor="t" rtlCol="false" tIns="0" lIns="0" bIns="0" rIns="0">
            <a:spAutoFit/>
          </a:bodyPr>
          <a:lstStyle/>
          <a:p>
            <a:pPr algn="l">
              <a:lnSpc>
                <a:spcPts val="7680"/>
              </a:lnSpc>
            </a:pPr>
            <a:r>
              <a:rPr lang="en-US" sz="8000">
                <a:solidFill>
                  <a:srgbClr val="FFB000"/>
                </a:solidFill>
                <a:latin typeface="Anton"/>
                <a:ea typeface="Anton"/>
                <a:cs typeface="Anton"/>
                <a:sym typeface="Anton"/>
              </a:rPr>
              <a:t>TOTAL PIZZAS SOLD  BY PIZZA CATEGORY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4302792" y="1481645"/>
            <a:ext cx="9682415" cy="3895685"/>
          </a:xfrm>
          <a:custGeom>
            <a:avLst/>
            <a:gdLst/>
            <a:ahLst/>
            <a:cxnLst/>
            <a:rect r="r" b="b" t="t" l="l"/>
            <a:pathLst>
              <a:path h="3895685" w="9682415">
                <a:moveTo>
                  <a:pt x="0" y="0"/>
                </a:moveTo>
                <a:lnTo>
                  <a:pt x="9682416" y="0"/>
                </a:lnTo>
                <a:lnTo>
                  <a:pt x="9682416" y="3895684"/>
                </a:lnTo>
                <a:lnTo>
                  <a:pt x="0" y="3895684"/>
                </a:lnTo>
                <a:lnTo>
                  <a:pt x="0" y="0"/>
                </a:lnTo>
                <a:close/>
              </a:path>
            </a:pathLst>
          </a:custGeom>
          <a:blipFill>
            <a:blip r:embed="rId3"/>
            <a:stretch>
              <a:fillRect l="0" t="0" r="-3558" b="0"/>
            </a:stretch>
          </a:blipFill>
        </p:spPr>
      </p:sp>
      <p:sp>
        <p:nvSpPr>
          <p:cNvPr name="Freeform 10" id="10"/>
          <p:cNvSpPr/>
          <p:nvPr/>
        </p:nvSpPr>
        <p:spPr>
          <a:xfrm flipH="false" flipV="false" rot="0">
            <a:off x="4526237" y="5742494"/>
            <a:ext cx="9235526" cy="4323012"/>
          </a:xfrm>
          <a:custGeom>
            <a:avLst/>
            <a:gdLst/>
            <a:ahLst/>
            <a:cxnLst/>
            <a:rect r="r" b="b" t="t" l="l"/>
            <a:pathLst>
              <a:path h="4323012" w="9235526">
                <a:moveTo>
                  <a:pt x="0" y="0"/>
                </a:moveTo>
                <a:lnTo>
                  <a:pt x="9235526" y="0"/>
                </a:lnTo>
                <a:lnTo>
                  <a:pt x="9235526" y="4323012"/>
                </a:lnTo>
                <a:lnTo>
                  <a:pt x="0" y="4323012"/>
                </a:lnTo>
                <a:lnTo>
                  <a:pt x="0" y="0"/>
                </a:lnTo>
                <a:close/>
              </a:path>
            </a:pathLst>
          </a:custGeom>
          <a:blipFill>
            <a:blip r:embed="rId4"/>
            <a:stretch>
              <a:fillRect l="0" t="0" r="0" b="0"/>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1217307" y="384365"/>
            <a:ext cx="16041993" cy="1097279"/>
          </a:xfrm>
          <a:prstGeom prst="rect">
            <a:avLst/>
          </a:prstGeom>
        </p:spPr>
        <p:txBody>
          <a:bodyPr anchor="t" rtlCol="false" tIns="0" lIns="0" bIns="0" rIns="0">
            <a:spAutoFit/>
          </a:bodyPr>
          <a:lstStyle/>
          <a:p>
            <a:pPr algn="ctr" marL="0" indent="0" lvl="0">
              <a:lnSpc>
                <a:spcPts val="8159"/>
              </a:lnSpc>
              <a:spcBef>
                <a:spcPct val="0"/>
              </a:spcBef>
            </a:pPr>
            <a:r>
              <a:rPr lang="en-US" sz="8499">
                <a:solidFill>
                  <a:srgbClr val="FFB000"/>
                </a:solidFill>
                <a:latin typeface="Anton"/>
                <a:ea typeface="Anton"/>
                <a:cs typeface="Anton"/>
                <a:sym typeface="Anton"/>
              </a:rPr>
              <a:t>TOP 5 PIZZAS BY REVENUE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3970193" y="1481645"/>
            <a:ext cx="9953848" cy="4063727"/>
          </a:xfrm>
          <a:custGeom>
            <a:avLst/>
            <a:gdLst/>
            <a:ahLst/>
            <a:cxnLst/>
            <a:rect r="r" b="b" t="t" l="l"/>
            <a:pathLst>
              <a:path h="4063727" w="9953848">
                <a:moveTo>
                  <a:pt x="0" y="0"/>
                </a:moveTo>
                <a:lnTo>
                  <a:pt x="9953848" y="0"/>
                </a:lnTo>
                <a:lnTo>
                  <a:pt x="9953848" y="4063726"/>
                </a:lnTo>
                <a:lnTo>
                  <a:pt x="0" y="4063726"/>
                </a:lnTo>
                <a:lnTo>
                  <a:pt x="0" y="0"/>
                </a:lnTo>
                <a:close/>
              </a:path>
            </a:pathLst>
          </a:custGeom>
          <a:blipFill>
            <a:blip r:embed="rId3"/>
            <a:stretch>
              <a:fillRect l="0" t="0" r="0" b="0"/>
            </a:stretch>
          </a:blipFill>
        </p:spPr>
      </p:sp>
      <p:sp>
        <p:nvSpPr>
          <p:cNvPr name="Freeform 10" id="10"/>
          <p:cNvSpPr/>
          <p:nvPr/>
        </p:nvSpPr>
        <p:spPr>
          <a:xfrm flipH="false" flipV="false" rot="0">
            <a:off x="4339414" y="5778334"/>
            <a:ext cx="9215406" cy="4243064"/>
          </a:xfrm>
          <a:custGeom>
            <a:avLst/>
            <a:gdLst/>
            <a:ahLst/>
            <a:cxnLst/>
            <a:rect r="r" b="b" t="t" l="l"/>
            <a:pathLst>
              <a:path h="4243064" w="9215406">
                <a:moveTo>
                  <a:pt x="0" y="0"/>
                </a:moveTo>
                <a:lnTo>
                  <a:pt x="9215405" y="0"/>
                </a:lnTo>
                <a:lnTo>
                  <a:pt x="9215405" y="4243065"/>
                </a:lnTo>
                <a:lnTo>
                  <a:pt x="0" y="4243065"/>
                </a:lnTo>
                <a:lnTo>
                  <a:pt x="0" y="0"/>
                </a:lnTo>
                <a:close/>
              </a:path>
            </a:pathLst>
          </a:custGeom>
          <a:blipFill>
            <a:blip r:embed="rId4"/>
            <a:stretch>
              <a:fillRect l="0" t="0" r="0" b="0"/>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1217307" y="384365"/>
            <a:ext cx="16041993" cy="1097279"/>
          </a:xfrm>
          <a:prstGeom prst="rect">
            <a:avLst/>
          </a:prstGeom>
        </p:spPr>
        <p:txBody>
          <a:bodyPr anchor="t" rtlCol="false" tIns="0" lIns="0" bIns="0" rIns="0">
            <a:spAutoFit/>
          </a:bodyPr>
          <a:lstStyle/>
          <a:p>
            <a:pPr algn="ctr" marL="0" indent="0" lvl="0">
              <a:lnSpc>
                <a:spcPts val="8159"/>
              </a:lnSpc>
              <a:spcBef>
                <a:spcPct val="0"/>
              </a:spcBef>
            </a:pPr>
            <a:r>
              <a:rPr lang="en-US" sz="8499">
                <a:solidFill>
                  <a:srgbClr val="FFB000"/>
                </a:solidFill>
                <a:latin typeface="Anton"/>
                <a:ea typeface="Anton"/>
                <a:cs typeface="Anton"/>
                <a:sym typeface="Anton"/>
              </a:rPr>
              <a:t>BOTTOM 5 PIZZAS BY REVENUE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4638930" y="1481645"/>
            <a:ext cx="9010140" cy="4480452"/>
          </a:xfrm>
          <a:custGeom>
            <a:avLst/>
            <a:gdLst/>
            <a:ahLst/>
            <a:cxnLst/>
            <a:rect r="r" b="b" t="t" l="l"/>
            <a:pathLst>
              <a:path h="4480452" w="9010140">
                <a:moveTo>
                  <a:pt x="0" y="0"/>
                </a:moveTo>
                <a:lnTo>
                  <a:pt x="9010140" y="0"/>
                </a:lnTo>
                <a:lnTo>
                  <a:pt x="9010140" y="4480452"/>
                </a:lnTo>
                <a:lnTo>
                  <a:pt x="0" y="4480452"/>
                </a:lnTo>
                <a:lnTo>
                  <a:pt x="0" y="0"/>
                </a:lnTo>
                <a:close/>
              </a:path>
            </a:pathLst>
          </a:custGeom>
          <a:blipFill>
            <a:blip r:embed="rId3"/>
            <a:stretch>
              <a:fillRect l="0" t="0" r="0" b="0"/>
            </a:stretch>
          </a:blipFill>
        </p:spPr>
      </p:sp>
      <p:sp>
        <p:nvSpPr>
          <p:cNvPr name="Freeform 10" id="10"/>
          <p:cNvSpPr/>
          <p:nvPr/>
        </p:nvSpPr>
        <p:spPr>
          <a:xfrm flipH="false" flipV="false" rot="0">
            <a:off x="5106753" y="6288986"/>
            <a:ext cx="7614153" cy="3835423"/>
          </a:xfrm>
          <a:custGeom>
            <a:avLst/>
            <a:gdLst/>
            <a:ahLst/>
            <a:cxnLst/>
            <a:rect r="r" b="b" t="t" l="l"/>
            <a:pathLst>
              <a:path h="3835423" w="7614153">
                <a:moveTo>
                  <a:pt x="0" y="0"/>
                </a:moveTo>
                <a:lnTo>
                  <a:pt x="7614153" y="0"/>
                </a:lnTo>
                <a:lnTo>
                  <a:pt x="7614153" y="3835423"/>
                </a:lnTo>
                <a:lnTo>
                  <a:pt x="0" y="3835423"/>
                </a:lnTo>
                <a:lnTo>
                  <a:pt x="0" y="0"/>
                </a:lnTo>
                <a:close/>
              </a:path>
            </a:pathLst>
          </a:custGeom>
          <a:blipFill>
            <a:blip r:embed="rId4"/>
            <a:stretch>
              <a:fillRect l="0" t="-5344" r="-2680" b="-9563"/>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1217307" y="384365"/>
            <a:ext cx="16041993" cy="1097279"/>
          </a:xfrm>
          <a:prstGeom prst="rect">
            <a:avLst/>
          </a:prstGeom>
        </p:spPr>
        <p:txBody>
          <a:bodyPr anchor="t" rtlCol="false" tIns="0" lIns="0" bIns="0" rIns="0">
            <a:spAutoFit/>
          </a:bodyPr>
          <a:lstStyle/>
          <a:p>
            <a:pPr algn="ctr" marL="0" indent="0" lvl="0">
              <a:lnSpc>
                <a:spcPts val="8159"/>
              </a:lnSpc>
              <a:spcBef>
                <a:spcPct val="0"/>
              </a:spcBef>
            </a:pPr>
            <a:r>
              <a:rPr lang="en-US" sz="8499">
                <a:solidFill>
                  <a:srgbClr val="FFB000"/>
                </a:solidFill>
                <a:latin typeface="Anton"/>
                <a:ea typeface="Anton"/>
                <a:cs typeface="Anton"/>
                <a:sym typeface="Anton"/>
              </a:rPr>
              <a:t>TOP 5 PIZZAS BY QUANTITY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4462022" y="1481645"/>
            <a:ext cx="9384386" cy="4481725"/>
          </a:xfrm>
          <a:custGeom>
            <a:avLst/>
            <a:gdLst/>
            <a:ahLst/>
            <a:cxnLst/>
            <a:rect r="r" b="b" t="t" l="l"/>
            <a:pathLst>
              <a:path h="4481725" w="9384386">
                <a:moveTo>
                  <a:pt x="0" y="0"/>
                </a:moveTo>
                <a:lnTo>
                  <a:pt x="9384386" y="0"/>
                </a:lnTo>
                <a:lnTo>
                  <a:pt x="9384386" y="4481725"/>
                </a:lnTo>
                <a:lnTo>
                  <a:pt x="0" y="4481725"/>
                </a:lnTo>
                <a:lnTo>
                  <a:pt x="0" y="0"/>
                </a:lnTo>
                <a:close/>
              </a:path>
            </a:pathLst>
          </a:custGeom>
          <a:blipFill>
            <a:blip r:embed="rId3"/>
            <a:stretch>
              <a:fillRect l="0" t="0" r="0" b="0"/>
            </a:stretch>
          </a:blipFill>
        </p:spPr>
      </p:sp>
      <p:sp>
        <p:nvSpPr>
          <p:cNvPr name="Freeform 10" id="10"/>
          <p:cNvSpPr/>
          <p:nvPr/>
        </p:nvSpPr>
        <p:spPr>
          <a:xfrm flipH="false" flipV="false" rot="0">
            <a:off x="5001027" y="6138024"/>
            <a:ext cx="7990621" cy="4148976"/>
          </a:xfrm>
          <a:custGeom>
            <a:avLst/>
            <a:gdLst/>
            <a:ahLst/>
            <a:cxnLst/>
            <a:rect r="r" b="b" t="t" l="l"/>
            <a:pathLst>
              <a:path h="4148976" w="7990621">
                <a:moveTo>
                  <a:pt x="0" y="0"/>
                </a:moveTo>
                <a:lnTo>
                  <a:pt x="7990621" y="0"/>
                </a:lnTo>
                <a:lnTo>
                  <a:pt x="7990621" y="4148976"/>
                </a:lnTo>
                <a:lnTo>
                  <a:pt x="0" y="4148976"/>
                </a:lnTo>
                <a:lnTo>
                  <a:pt x="0" y="0"/>
                </a:lnTo>
                <a:close/>
              </a:path>
            </a:pathLst>
          </a:custGeom>
          <a:blipFill>
            <a:blip r:embed="rId4"/>
            <a:stretch>
              <a:fillRect l="0" t="0" r="0" b="0"/>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1217307" y="384365"/>
            <a:ext cx="16041993" cy="1097279"/>
          </a:xfrm>
          <a:prstGeom prst="rect">
            <a:avLst/>
          </a:prstGeom>
        </p:spPr>
        <p:txBody>
          <a:bodyPr anchor="t" rtlCol="false" tIns="0" lIns="0" bIns="0" rIns="0">
            <a:spAutoFit/>
          </a:bodyPr>
          <a:lstStyle/>
          <a:p>
            <a:pPr algn="ctr" marL="0" indent="0" lvl="0">
              <a:lnSpc>
                <a:spcPts val="8159"/>
              </a:lnSpc>
              <a:spcBef>
                <a:spcPct val="0"/>
              </a:spcBef>
            </a:pPr>
            <a:r>
              <a:rPr lang="en-US" sz="8499">
                <a:solidFill>
                  <a:srgbClr val="FFB000"/>
                </a:solidFill>
                <a:latin typeface="Anton"/>
                <a:ea typeface="Anton"/>
                <a:cs typeface="Anton"/>
                <a:sym typeface="Anton"/>
              </a:rPr>
              <a:t>BOTTOM 5 PIZZAS BY QUANTITY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3945912" y="1650074"/>
            <a:ext cx="10239631" cy="3738278"/>
          </a:xfrm>
          <a:custGeom>
            <a:avLst/>
            <a:gdLst/>
            <a:ahLst/>
            <a:cxnLst/>
            <a:rect r="r" b="b" t="t" l="l"/>
            <a:pathLst>
              <a:path h="3738278" w="10239631">
                <a:moveTo>
                  <a:pt x="0" y="0"/>
                </a:moveTo>
                <a:lnTo>
                  <a:pt x="10239630" y="0"/>
                </a:lnTo>
                <a:lnTo>
                  <a:pt x="10239630" y="3738278"/>
                </a:lnTo>
                <a:lnTo>
                  <a:pt x="0" y="3738278"/>
                </a:lnTo>
                <a:lnTo>
                  <a:pt x="0" y="0"/>
                </a:lnTo>
                <a:close/>
              </a:path>
            </a:pathLst>
          </a:custGeom>
          <a:blipFill>
            <a:blip r:embed="rId3"/>
            <a:stretch>
              <a:fillRect l="0" t="0" r="0" b="0"/>
            </a:stretch>
          </a:blipFill>
        </p:spPr>
      </p:sp>
      <p:sp>
        <p:nvSpPr>
          <p:cNvPr name="Freeform 10" id="10"/>
          <p:cNvSpPr/>
          <p:nvPr/>
        </p:nvSpPr>
        <p:spPr>
          <a:xfrm flipH="false" flipV="false" rot="0">
            <a:off x="4528748" y="5559802"/>
            <a:ext cx="9230503" cy="4467432"/>
          </a:xfrm>
          <a:custGeom>
            <a:avLst/>
            <a:gdLst/>
            <a:ahLst/>
            <a:cxnLst/>
            <a:rect r="r" b="b" t="t" l="l"/>
            <a:pathLst>
              <a:path h="4467432" w="9230503">
                <a:moveTo>
                  <a:pt x="0" y="0"/>
                </a:moveTo>
                <a:lnTo>
                  <a:pt x="9230504" y="0"/>
                </a:lnTo>
                <a:lnTo>
                  <a:pt x="9230504" y="4467432"/>
                </a:lnTo>
                <a:lnTo>
                  <a:pt x="0" y="4467432"/>
                </a:lnTo>
                <a:lnTo>
                  <a:pt x="0" y="0"/>
                </a:lnTo>
                <a:close/>
              </a:path>
            </a:pathLst>
          </a:custGeom>
          <a:blipFill>
            <a:blip r:embed="rId4"/>
            <a:stretch>
              <a:fillRect l="0" t="0" r="0" b="0"/>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1217307" y="384365"/>
            <a:ext cx="16041993" cy="1097279"/>
          </a:xfrm>
          <a:prstGeom prst="rect">
            <a:avLst/>
          </a:prstGeom>
        </p:spPr>
        <p:txBody>
          <a:bodyPr anchor="t" rtlCol="false" tIns="0" lIns="0" bIns="0" rIns="0">
            <a:spAutoFit/>
          </a:bodyPr>
          <a:lstStyle/>
          <a:p>
            <a:pPr algn="ctr" marL="0" indent="0" lvl="0">
              <a:lnSpc>
                <a:spcPts val="8159"/>
              </a:lnSpc>
              <a:spcBef>
                <a:spcPct val="0"/>
              </a:spcBef>
            </a:pPr>
            <a:r>
              <a:rPr lang="en-US" sz="8499">
                <a:solidFill>
                  <a:srgbClr val="FFB000"/>
                </a:solidFill>
                <a:latin typeface="Anton"/>
                <a:ea typeface="Anton"/>
                <a:cs typeface="Anton"/>
                <a:sym typeface="Anton"/>
              </a:rPr>
              <a:t>TOP 5 PIZZAS BY ORDERS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47625"/>
              <a:ext cx="660400" cy="784225"/>
            </a:xfrm>
            <a:prstGeom prst="rect">
              <a:avLst/>
            </a:prstGeom>
          </p:spPr>
          <p:txBody>
            <a:bodyPr anchor="ctr" rtlCol="false" tIns="50800" lIns="50800" bIns="50800" rIns="50800"/>
            <a:lstStyle/>
            <a:p>
              <a:pPr algn="l" marL="0" indent="0" lvl="0">
                <a:lnSpc>
                  <a:spcPts val="3919"/>
                </a:lnSpc>
                <a:spcBef>
                  <a:spcPct val="0"/>
                </a:spcBef>
              </a:pPr>
            </a:p>
          </p:txBody>
        </p:sp>
      </p:grpSp>
      <p:grpSp>
        <p:nvGrpSpPr>
          <p:cNvPr name="Group 5" id="5"/>
          <p:cNvGrpSpPr/>
          <p:nvPr/>
        </p:nvGrpSpPr>
        <p:grpSpPr>
          <a:xfrm rot="0">
            <a:off x="16379369" y="874395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5302405">
            <a:off x="-1609206" y="7706530"/>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2"/>
            <a:stretch>
              <a:fillRect l="0" t="0" r="0" b="0"/>
            </a:stretch>
          </a:blipFill>
        </p:spPr>
      </p:sp>
      <p:sp>
        <p:nvSpPr>
          <p:cNvPr name="Freeform 9" id="9"/>
          <p:cNvSpPr/>
          <p:nvPr/>
        </p:nvSpPr>
        <p:spPr>
          <a:xfrm flipH="false" flipV="false" rot="0">
            <a:off x="3966331" y="1498170"/>
            <a:ext cx="10219212" cy="3645330"/>
          </a:xfrm>
          <a:custGeom>
            <a:avLst/>
            <a:gdLst/>
            <a:ahLst/>
            <a:cxnLst/>
            <a:rect r="r" b="b" t="t" l="l"/>
            <a:pathLst>
              <a:path h="3645330" w="10219212">
                <a:moveTo>
                  <a:pt x="0" y="0"/>
                </a:moveTo>
                <a:lnTo>
                  <a:pt x="10219211" y="0"/>
                </a:lnTo>
                <a:lnTo>
                  <a:pt x="10219211" y="3645330"/>
                </a:lnTo>
                <a:lnTo>
                  <a:pt x="0" y="3645330"/>
                </a:lnTo>
                <a:lnTo>
                  <a:pt x="0" y="0"/>
                </a:lnTo>
                <a:close/>
              </a:path>
            </a:pathLst>
          </a:custGeom>
          <a:blipFill>
            <a:blip r:embed="rId3"/>
            <a:stretch>
              <a:fillRect l="0" t="0" r="0" b="0"/>
            </a:stretch>
          </a:blipFill>
        </p:spPr>
      </p:sp>
      <p:sp>
        <p:nvSpPr>
          <p:cNvPr name="Freeform 10" id="10"/>
          <p:cNvSpPr/>
          <p:nvPr/>
        </p:nvSpPr>
        <p:spPr>
          <a:xfrm flipH="false" flipV="false" rot="0">
            <a:off x="4483400" y="5402724"/>
            <a:ext cx="9185074" cy="4457462"/>
          </a:xfrm>
          <a:custGeom>
            <a:avLst/>
            <a:gdLst/>
            <a:ahLst/>
            <a:cxnLst/>
            <a:rect r="r" b="b" t="t" l="l"/>
            <a:pathLst>
              <a:path h="4457462" w="9185074">
                <a:moveTo>
                  <a:pt x="0" y="0"/>
                </a:moveTo>
                <a:lnTo>
                  <a:pt x="9185074" y="0"/>
                </a:lnTo>
                <a:lnTo>
                  <a:pt x="9185074" y="4457462"/>
                </a:lnTo>
                <a:lnTo>
                  <a:pt x="0" y="4457462"/>
                </a:lnTo>
                <a:lnTo>
                  <a:pt x="0" y="0"/>
                </a:lnTo>
                <a:close/>
              </a:path>
            </a:pathLst>
          </a:custGeom>
          <a:blipFill>
            <a:blip r:embed="rId4"/>
            <a:stretch>
              <a:fillRect l="0" t="0" r="0" b="0"/>
            </a:stretch>
          </a:blipFill>
        </p:spPr>
      </p:sp>
      <p:sp>
        <p:nvSpPr>
          <p:cNvPr name="TextBox 11" id="11"/>
          <p:cNvSpPr txBox="true"/>
          <p:nvPr/>
        </p:nvSpPr>
        <p:spPr>
          <a:xfrm rot="0">
            <a:off x="14185542" y="1122903"/>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name="TextBox 12" id="12"/>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13" id="13"/>
          <p:cNvSpPr txBox="true"/>
          <p:nvPr/>
        </p:nvSpPr>
        <p:spPr>
          <a:xfrm rot="0">
            <a:off x="1217307" y="384365"/>
            <a:ext cx="16041993" cy="1097279"/>
          </a:xfrm>
          <a:prstGeom prst="rect">
            <a:avLst/>
          </a:prstGeom>
        </p:spPr>
        <p:txBody>
          <a:bodyPr anchor="t" rtlCol="false" tIns="0" lIns="0" bIns="0" rIns="0">
            <a:spAutoFit/>
          </a:bodyPr>
          <a:lstStyle/>
          <a:p>
            <a:pPr algn="ctr" marL="0" indent="0" lvl="0">
              <a:lnSpc>
                <a:spcPts val="8159"/>
              </a:lnSpc>
              <a:spcBef>
                <a:spcPct val="0"/>
              </a:spcBef>
            </a:pPr>
            <a:r>
              <a:rPr lang="en-US" sz="8499">
                <a:solidFill>
                  <a:srgbClr val="FFB000"/>
                </a:solidFill>
                <a:latin typeface="Anton"/>
                <a:ea typeface="Anton"/>
                <a:cs typeface="Anton"/>
                <a:sym typeface="Anton"/>
              </a:rPr>
              <a:t>BOTTOM 5 PIZZAS BY ORDERS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5455" y="1157397"/>
            <a:ext cx="16637090" cy="9129603"/>
          </a:xfrm>
          <a:custGeom>
            <a:avLst/>
            <a:gdLst/>
            <a:ahLst/>
            <a:cxnLst/>
            <a:rect r="r" b="b" t="t" l="l"/>
            <a:pathLst>
              <a:path h="9129603" w="16637090">
                <a:moveTo>
                  <a:pt x="0" y="0"/>
                </a:moveTo>
                <a:lnTo>
                  <a:pt x="16637090" y="0"/>
                </a:lnTo>
                <a:lnTo>
                  <a:pt x="16637090" y="9129603"/>
                </a:lnTo>
                <a:lnTo>
                  <a:pt x="0" y="9129603"/>
                </a:lnTo>
                <a:lnTo>
                  <a:pt x="0" y="0"/>
                </a:lnTo>
                <a:close/>
              </a:path>
            </a:pathLst>
          </a:custGeom>
          <a:blipFill>
            <a:blip r:embed="rId4"/>
            <a:stretch>
              <a:fillRect l="0" t="0" r="0" b="0"/>
            </a:stretch>
          </a:blipFill>
        </p:spPr>
      </p:sp>
      <p:sp>
        <p:nvSpPr>
          <p:cNvPr name="TextBox 7" id="7"/>
          <p:cNvSpPr txBox="true"/>
          <p:nvPr/>
        </p:nvSpPr>
        <p:spPr>
          <a:xfrm rot="0">
            <a:off x="5388273" y="258237"/>
            <a:ext cx="6449276" cy="899160"/>
          </a:xfrm>
          <a:prstGeom prst="rect">
            <a:avLst/>
          </a:prstGeom>
        </p:spPr>
        <p:txBody>
          <a:bodyPr anchor="t" rtlCol="false" tIns="0" lIns="0" bIns="0" rIns="0">
            <a:spAutoFit/>
          </a:bodyPr>
          <a:lstStyle/>
          <a:p>
            <a:pPr algn="l" marL="0" indent="0" lvl="0">
              <a:lnSpc>
                <a:spcPts val="6719"/>
              </a:lnSpc>
              <a:spcBef>
                <a:spcPct val="0"/>
              </a:spcBef>
            </a:pPr>
            <a:r>
              <a:rPr lang="en-US" sz="6999">
                <a:solidFill>
                  <a:srgbClr val="FFB000"/>
                </a:solidFill>
                <a:latin typeface="Anton"/>
                <a:ea typeface="Anton"/>
                <a:cs typeface="Anton"/>
                <a:sym typeface="Anton"/>
              </a:rPr>
              <a:t>DASHBOARD(HOME)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15009948" y="9515692"/>
            <a:ext cx="2249352" cy="1231009"/>
          </a:xfrm>
          <a:custGeom>
            <a:avLst/>
            <a:gdLst/>
            <a:ahLst/>
            <a:cxnLst/>
            <a:rect r="r" b="b" t="t" l="l"/>
            <a:pathLst>
              <a:path h="1231009" w="2249352">
                <a:moveTo>
                  <a:pt x="0" y="0"/>
                </a:moveTo>
                <a:lnTo>
                  <a:pt x="2249352" y="0"/>
                </a:lnTo>
                <a:lnTo>
                  <a:pt x="2249352" y="1231008"/>
                </a:lnTo>
                <a:lnTo>
                  <a:pt x="0" y="1231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03010" y="1138377"/>
            <a:ext cx="16373375" cy="9148623"/>
          </a:xfrm>
          <a:custGeom>
            <a:avLst/>
            <a:gdLst/>
            <a:ahLst/>
            <a:cxnLst/>
            <a:rect r="r" b="b" t="t" l="l"/>
            <a:pathLst>
              <a:path h="9148623" w="16373375">
                <a:moveTo>
                  <a:pt x="0" y="0"/>
                </a:moveTo>
                <a:lnTo>
                  <a:pt x="16373375" y="0"/>
                </a:lnTo>
                <a:lnTo>
                  <a:pt x="16373375" y="9148623"/>
                </a:lnTo>
                <a:lnTo>
                  <a:pt x="0" y="9148623"/>
                </a:lnTo>
                <a:lnTo>
                  <a:pt x="0" y="0"/>
                </a:lnTo>
                <a:close/>
              </a:path>
            </a:pathLst>
          </a:custGeom>
          <a:blipFill>
            <a:blip r:embed="rId4"/>
            <a:stretch>
              <a:fillRect l="0" t="0" r="0" b="0"/>
            </a:stretch>
          </a:blipFill>
        </p:spPr>
      </p:sp>
      <p:sp>
        <p:nvSpPr>
          <p:cNvPr name="TextBox 7" id="7"/>
          <p:cNvSpPr txBox="true"/>
          <p:nvPr/>
        </p:nvSpPr>
        <p:spPr>
          <a:xfrm rot="0">
            <a:off x="3739375" y="258237"/>
            <a:ext cx="11100645" cy="899160"/>
          </a:xfrm>
          <a:prstGeom prst="rect">
            <a:avLst/>
          </a:prstGeom>
        </p:spPr>
        <p:txBody>
          <a:bodyPr anchor="t" rtlCol="false" tIns="0" lIns="0" bIns="0" rIns="0">
            <a:spAutoFit/>
          </a:bodyPr>
          <a:lstStyle/>
          <a:p>
            <a:pPr algn="l" marL="0" indent="0" lvl="0">
              <a:lnSpc>
                <a:spcPts val="6719"/>
              </a:lnSpc>
              <a:spcBef>
                <a:spcPct val="0"/>
              </a:spcBef>
            </a:pPr>
            <a:r>
              <a:rPr lang="en-US" sz="6999">
                <a:solidFill>
                  <a:srgbClr val="FFB000"/>
                </a:solidFill>
                <a:latin typeface="Anton"/>
                <a:ea typeface="Anton"/>
                <a:cs typeface="Anton"/>
                <a:sym typeface="Anton"/>
              </a:rPr>
              <a:t>DASHBOARD(BEST/WORST</a:t>
            </a:r>
            <a:r>
              <a:rPr lang="en-US" sz="6999">
                <a:solidFill>
                  <a:srgbClr val="FFB000"/>
                </a:solidFill>
                <a:latin typeface="Anton"/>
                <a:ea typeface="Anton"/>
                <a:cs typeface="Anton"/>
                <a:sym typeface="Anton"/>
              </a:rPr>
              <a:t> SELLER</a:t>
            </a:r>
            <a:r>
              <a:rPr lang="en-US" sz="6999">
                <a:solidFill>
                  <a:srgbClr val="FFB000"/>
                </a:solidFill>
                <a:latin typeface="Anton"/>
                <a:ea typeface="Anton"/>
                <a:cs typeface="Anton"/>
                <a:sym typeface="Anton"/>
              </a:rPr>
              <a: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7259300" y="2638276"/>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4752131" y="4181326"/>
            <a:ext cx="12667454" cy="12078353"/>
            <a:chOff x="0" y="0"/>
            <a:chExt cx="812800" cy="775001"/>
          </a:xfrm>
        </p:grpSpPr>
        <p:sp>
          <p:nvSpPr>
            <p:cNvPr name="Freeform 9" id="9"/>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10" id="10"/>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11" id="11"/>
          <p:cNvSpPr/>
          <p:nvPr/>
        </p:nvSpPr>
        <p:spPr>
          <a:xfrm flipH="false" flipV="false" rot="0">
            <a:off x="614537" y="2319355"/>
            <a:ext cx="8239900" cy="8229600"/>
          </a:xfrm>
          <a:custGeom>
            <a:avLst/>
            <a:gdLst/>
            <a:ahLst/>
            <a:cxnLst/>
            <a:rect r="r" b="b" t="t" l="l"/>
            <a:pathLst>
              <a:path h="8229600" w="8239900">
                <a:moveTo>
                  <a:pt x="0" y="0"/>
                </a:moveTo>
                <a:lnTo>
                  <a:pt x="8239900" y="0"/>
                </a:lnTo>
                <a:lnTo>
                  <a:pt x="8239900" y="8229600"/>
                </a:lnTo>
                <a:lnTo>
                  <a:pt x="0" y="8229600"/>
                </a:lnTo>
                <a:lnTo>
                  <a:pt x="0" y="0"/>
                </a:lnTo>
                <a:close/>
              </a:path>
            </a:pathLst>
          </a:custGeom>
          <a:blipFill>
            <a:blip r:embed="rId2"/>
            <a:stretch>
              <a:fillRect l="0" t="0" r="0" b="0"/>
            </a:stretch>
          </a:blipFill>
        </p:spPr>
      </p:sp>
      <p:sp>
        <p:nvSpPr>
          <p:cNvPr name="Freeform 12" id="12"/>
          <p:cNvSpPr/>
          <p:nvPr/>
        </p:nvSpPr>
        <p:spPr>
          <a:xfrm flipH="false" flipV="false" rot="0">
            <a:off x="-1386147" y="2319355"/>
            <a:ext cx="2249352" cy="1231009"/>
          </a:xfrm>
          <a:custGeom>
            <a:avLst/>
            <a:gdLst/>
            <a:ahLst/>
            <a:cxnLst/>
            <a:rect r="r" b="b" t="t" l="l"/>
            <a:pathLst>
              <a:path h="1231009" w="2249352">
                <a:moveTo>
                  <a:pt x="0" y="0"/>
                </a:moveTo>
                <a:lnTo>
                  <a:pt x="2249351" y="0"/>
                </a:lnTo>
                <a:lnTo>
                  <a:pt x="2249351" y="1231009"/>
                </a:lnTo>
                <a:lnTo>
                  <a:pt x="0" y="12310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445243" y="2319355"/>
            <a:ext cx="7277380" cy="6938945"/>
            <a:chOff x="0" y="0"/>
            <a:chExt cx="812800" cy="775001"/>
          </a:xfrm>
        </p:grpSpPr>
        <p:sp>
          <p:nvSpPr>
            <p:cNvPr name="Freeform 14" id="14"/>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FFFF"/>
            </a:solidFill>
          </p:spPr>
        </p:sp>
        <p:sp>
          <p:nvSpPr>
            <p:cNvPr name="TextBox 15" id="15"/>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16" id="16"/>
          <p:cNvSpPr/>
          <p:nvPr/>
        </p:nvSpPr>
        <p:spPr>
          <a:xfrm flipH="false" flipV="false" rot="0">
            <a:off x="1591121" y="2492818"/>
            <a:ext cx="7004674" cy="6572970"/>
          </a:xfrm>
          <a:custGeom>
            <a:avLst/>
            <a:gdLst/>
            <a:ahLst/>
            <a:cxnLst/>
            <a:rect r="r" b="b" t="t" l="l"/>
            <a:pathLst>
              <a:path h="6572970" w="7004674">
                <a:moveTo>
                  <a:pt x="0" y="0"/>
                </a:moveTo>
                <a:lnTo>
                  <a:pt x="7004673" y="0"/>
                </a:lnTo>
                <a:lnTo>
                  <a:pt x="7004673" y="6572969"/>
                </a:lnTo>
                <a:lnTo>
                  <a:pt x="0" y="6572969"/>
                </a:lnTo>
                <a:lnTo>
                  <a:pt x="0" y="0"/>
                </a:lnTo>
                <a:close/>
              </a:path>
            </a:pathLst>
          </a:custGeom>
          <a:blipFill>
            <a:blip r:embed="rId5"/>
            <a:stretch>
              <a:fillRect l="0" t="-1285" r="0" b="-1285"/>
            </a:stretch>
          </a:blipFill>
        </p:spPr>
      </p:sp>
      <p:sp>
        <p:nvSpPr>
          <p:cNvPr name="Freeform 17" id="17"/>
          <p:cNvSpPr/>
          <p:nvPr/>
        </p:nvSpPr>
        <p:spPr>
          <a:xfrm flipH="false" flipV="false" rot="3477770">
            <a:off x="5056692" y="7481852"/>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6"/>
            <a:stretch>
              <a:fillRect l="0" t="0" r="0" b="0"/>
            </a:stretch>
          </a:blipFill>
        </p:spPr>
      </p:sp>
      <p:sp>
        <p:nvSpPr>
          <p:cNvPr name="TextBox 18" id="18"/>
          <p:cNvSpPr txBox="true"/>
          <p:nvPr/>
        </p:nvSpPr>
        <p:spPr>
          <a:xfrm rot="0">
            <a:off x="11951749" y="1122903"/>
            <a:ext cx="927891" cy="358701"/>
          </a:xfrm>
          <a:prstGeom prst="rect">
            <a:avLst/>
          </a:prstGeom>
        </p:spPr>
        <p:txBody>
          <a:bodyPr anchor="t" rtlCol="false" tIns="0" lIns="0" bIns="0" rIns="0">
            <a:spAutoFit/>
          </a:bodyPr>
          <a:lstStyle/>
          <a:p>
            <a:pPr algn="ctr">
              <a:lnSpc>
                <a:spcPts val="2799"/>
              </a:lnSpc>
              <a:spcBef>
                <a:spcPct val="0"/>
              </a:spcBef>
            </a:pPr>
            <a:r>
              <a:rPr lang="en-US" b="true" sz="1999">
                <a:solidFill>
                  <a:srgbClr val="340808"/>
                </a:solidFill>
                <a:latin typeface="Poppins Bold"/>
                <a:ea typeface="Poppins Bold"/>
                <a:cs typeface="Poppins Bold"/>
                <a:sym typeface="Poppins Bold"/>
              </a:rPr>
              <a:t>Home</a:t>
            </a:r>
          </a:p>
        </p:txBody>
      </p:sp>
      <p:sp>
        <p:nvSpPr>
          <p:cNvPr name="TextBox 19" id="19"/>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20" id="20"/>
          <p:cNvSpPr txBox="true"/>
          <p:nvPr/>
        </p:nvSpPr>
        <p:spPr>
          <a:xfrm rot="0">
            <a:off x="9435462" y="1388385"/>
            <a:ext cx="7929063" cy="8557682"/>
          </a:xfrm>
          <a:prstGeom prst="rect">
            <a:avLst/>
          </a:prstGeom>
        </p:spPr>
        <p:txBody>
          <a:bodyPr anchor="t" rtlCol="false" tIns="0" lIns="0" bIns="0" rIns="0">
            <a:spAutoFit/>
          </a:bodyPr>
          <a:lstStyle/>
          <a:p>
            <a:pPr algn="l">
              <a:lnSpc>
                <a:spcPts val="3597"/>
              </a:lnSpc>
            </a:pPr>
            <a:r>
              <a:rPr lang="en-US" sz="2115">
                <a:solidFill>
                  <a:srgbClr val="FFFFFF">
                    <a:alpha val="80000"/>
                  </a:srgbClr>
                </a:solidFill>
                <a:latin typeface="Poppins"/>
                <a:ea typeface="Poppins"/>
                <a:cs typeface="Poppins"/>
                <a:sym typeface="Poppins"/>
              </a:rPr>
              <a:t>This analysis is the result of a combined approach using both </a:t>
            </a:r>
            <a:r>
              <a:rPr lang="en-US" sz="2115" b="true">
                <a:solidFill>
                  <a:srgbClr val="FFFFFF">
                    <a:alpha val="80000"/>
                  </a:srgbClr>
                </a:solidFill>
                <a:latin typeface="Poppins Bold"/>
                <a:ea typeface="Poppins Bold"/>
                <a:cs typeface="Poppins Bold"/>
                <a:sym typeface="Poppins Bold"/>
              </a:rPr>
              <a:t>SQL-based data extraction</a:t>
            </a:r>
            <a:r>
              <a:rPr lang="en-US" sz="2115">
                <a:solidFill>
                  <a:srgbClr val="FFFFFF">
                    <a:alpha val="80000"/>
                  </a:srgbClr>
                </a:solidFill>
                <a:latin typeface="Poppins"/>
                <a:ea typeface="Poppins"/>
                <a:cs typeface="Poppins"/>
                <a:sym typeface="Poppins"/>
              </a:rPr>
              <a:t> and</a:t>
            </a:r>
            <a:r>
              <a:rPr lang="en-US" sz="2115" b="true">
                <a:solidFill>
                  <a:srgbClr val="FFFFFF">
                    <a:alpha val="80000"/>
                  </a:srgbClr>
                </a:solidFill>
                <a:latin typeface="Poppins Bold"/>
                <a:ea typeface="Poppins Bold"/>
                <a:cs typeface="Poppins Bold"/>
                <a:sym typeface="Poppins Bold"/>
              </a:rPr>
              <a:t> Power BI-driven visualization</a:t>
            </a:r>
            <a:r>
              <a:rPr lang="en-US" sz="2115">
                <a:solidFill>
                  <a:srgbClr val="FFFFFF">
                    <a:alpha val="80000"/>
                  </a:srgbClr>
                </a:solidFill>
                <a:latin typeface="Poppins"/>
                <a:ea typeface="Poppins"/>
                <a:cs typeface="Poppins"/>
                <a:sym typeface="Poppins"/>
              </a:rPr>
              <a:t>. SQL queries were used to explore the raw pizza sales data and generate key metrics such as</a:t>
            </a:r>
            <a:r>
              <a:rPr lang="en-US" sz="2115" b="true">
                <a:solidFill>
                  <a:srgbClr val="FFFFFF">
                    <a:alpha val="80000"/>
                  </a:srgbClr>
                </a:solidFill>
                <a:latin typeface="Poppins Bold"/>
                <a:ea typeface="Poppins Bold"/>
                <a:cs typeface="Poppins Bold"/>
                <a:sym typeface="Poppins Bold"/>
              </a:rPr>
              <a:t> total revenue, top/worst performing pizzas, peak order days, and category-wise performance</a:t>
            </a:r>
            <a:r>
              <a:rPr lang="en-US" sz="2115">
                <a:solidFill>
                  <a:srgbClr val="FFFFFF">
                    <a:alpha val="80000"/>
                  </a:srgbClr>
                </a:solidFill>
                <a:latin typeface="Poppins"/>
                <a:ea typeface="Poppins"/>
                <a:cs typeface="Poppins"/>
                <a:sym typeface="Poppins"/>
              </a:rPr>
              <a:t>. These queries helped uncover granular insights like the number of pizzas sold per order, daily order trends, and monthly performance distribution.</a:t>
            </a:r>
          </a:p>
          <a:p>
            <a:pPr algn="l">
              <a:lnSpc>
                <a:spcPts val="4316"/>
              </a:lnSpc>
            </a:pPr>
            <a:r>
              <a:rPr lang="en-US" sz="2539">
                <a:solidFill>
                  <a:srgbClr val="FFFFFF">
                    <a:alpha val="80000"/>
                  </a:srgbClr>
                </a:solidFill>
                <a:latin typeface="Poppins"/>
                <a:ea typeface="Poppins"/>
                <a:cs typeface="Poppins"/>
                <a:sym typeface="Poppins"/>
              </a:rPr>
              <a:t> Once the data was structured and cleaned using SQL, it was imported into Power BI where the insights were brought to life through intuitive and interactive dashboards. The final visualizations clearly highlight that the</a:t>
            </a:r>
            <a:r>
              <a:rPr lang="en-US" sz="2539" b="true">
                <a:solidFill>
                  <a:srgbClr val="FFFFFF">
                    <a:alpha val="80000"/>
                  </a:srgbClr>
                </a:solidFill>
                <a:latin typeface="Poppins Bold"/>
                <a:ea typeface="Poppins Bold"/>
                <a:cs typeface="Poppins Bold"/>
                <a:sym typeface="Poppins Bold"/>
              </a:rPr>
              <a:t> Classic Deluxe Pizza</a:t>
            </a:r>
            <a:r>
              <a:rPr lang="en-US" sz="2539">
                <a:solidFill>
                  <a:srgbClr val="FFFFFF">
                    <a:alpha val="80000"/>
                  </a:srgbClr>
                </a:solidFill>
                <a:latin typeface="Poppins"/>
                <a:ea typeface="Poppins"/>
                <a:cs typeface="Poppins"/>
                <a:sym typeface="Poppins"/>
              </a:rPr>
              <a:t> was the most ordered,</a:t>
            </a:r>
            <a:r>
              <a:rPr lang="en-US" sz="2539" b="true">
                <a:solidFill>
                  <a:srgbClr val="FFFFFF">
                    <a:alpha val="80000"/>
                  </a:srgbClr>
                </a:solidFill>
                <a:latin typeface="Poppins Bold"/>
                <a:ea typeface="Poppins Bold"/>
                <a:cs typeface="Poppins Bold"/>
                <a:sym typeface="Poppins Bold"/>
              </a:rPr>
              <a:t> Thai Chicken Pizza </a:t>
            </a:r>
            <a:r>
              <a:rPr lang="en-US" sz="2539">
                <a:solidFill>
                  <a:srgbClr val="FFFFFF">
                    <a:alpha val="80000"/>
                  </a:srgbClr>
                </a:solidFill>
                <a:latin typeface="Poppins"/>
                <a:ea typeface="Poppins"/>
                <a:cs typeface="Poppins"/>
                <a:sym typeface="Poppins"/>
              </a:rPr>
              <a:t>brought in the highest revenue, and </a:t>
            </a:r>
            <a:r>
              <a:rPr lang="en-US" sz="2539" b="true">
                <a:solidFill>
                  <a:srgbClr val="FFFFFF">
                    <a:alpha val="80000"/>
                  </a:srgbClr>
                </a:solidFill>
                <a:latin typeface="Poppins Bold"/>
                <a:ea typeface="Poppins Bold"/>
                <a:cs typeface="Poppins Bold"/>
                <a:sym typeface="Poppins Bold"/>
              </a:rPr>
              <a:t>orders peaked on Fridays and weekends.</a:t>
            </a:r>
          </a:p>
          <a:p>
            <a:pPr algn="l">
              <a:lnSpc>
                <a:spcPts val="179"/>
              </a:lnSpc>
            </a:pPr>
            <a:r>
              <a:rPr lang="en-US" sz="105">
                <a:solidFill>
                  <a:srgbClr val="FFFFFF">
                    <a:alpha val="80000"/>
                  </a:srgbClr>
                </a:solidFill>
                <a:latin typeface="Poppins"/>
                <a:ea typeface="Poppins"/>
                <a:cs typeface="Poppins"/>
                <a:sym typeface="Poppins"/>
              </a:rPr>
              <a:t> This end-to-end workflow showcases how powerful insights can be generated by combining backend data processing (SQL) with front-end visualization (Power BI), enabling better business decisions.</a:t>
            </a:r>
          </a:p>
        </p:txBody>
      </p:sp>
      <p:sp>
        <p:nvSpPr>
          <p:cNvPr name="TextBox 21" id="21"/>
          <p:cNvSpPr txBox="true"/>
          <p:nvPr/>
        </p:nvSpPr>
        <p:spPr>
          <a:xfrm rot="0">
            <a:off x="7812729" y="477795"/>
            <a:ext cx="10448324" cy="1024891"/>
          </a:xfrm>
          <a:prstGeom prst="rect">
            <a:avLst/>
          </a:prstGeom>
        </p:spPr>
        <p:txBody>
          <a:bodyPr anchor="t" rtlCol="false" tIns="0" lIns="0" bIns="0" rIns="0">
            <a:spAutoFit/>
          </a:bodyPr>
          <a:lstStyle/>
          <a:p>
            <a:pPr algn="l" marL="0" indent="0" lvl="0">
              <a:lnSpc>
                <a:spcPts val="7680"/>
              </a:lnSpc>
              <a:spcBef>
                <a:spcPct val="0"/>
              </a:spcBef>
            </a:pPr>
            <a:r>
              <a:rPr lang="en-US" sz="8000">
                <a:solidFill>
                  <a:srgbClr val="FFB000"/>
                </a:solidFill>
                <a:latin typeface="Anton"/>
                <a:ea typeface="Anton"/>
                <a:cs typeface="Anton"/>
                <a:sym typeface="Anton"/>
              </a:rPr>
              <a:t>INSIGHTS</a:t>
            </a:r>
            <a:r>
              <a:rPr lang="en-US" sz="8000">
                <a:solidFill>
                  <a:srgbClr val="FFB000"/>
                </a:solidFill>
                <a:latin typeface="Anton"/>
                <a:ea typeface="Anton"/>
                <a:cs typeface="Anton"/>
                <a:sym typeface="Anton"/>
              </a:rPr>
              <a:t> &amp; UNDERSTANDING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812729"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7259300" y="2638276"/>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4752131" y="4181326"/>
            <a:ext cx="12667454" cy="12078353"/>
            <a:chOff x="0" y="0"/>
            <a:chExt cx="812800" cy="775001"/>
          </a:xfrm>
        </p:grpSpPr>
        <p:sp>
          <p:nvSpPr>
            <p:cNvPr name="Freeform 9" id="9"/>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name="TextBox 10" id="10"/>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11" id="11"/>
          <p:cNvSpPr/>
          <p:nvPr/>
        </p:nvSpPr>
        <p:spPr>
          <a:xfrm flipH="false" flipV="false" rot="0">
            <a:off x="614537" y="2319355"/>
            <a:ext cx="8239900" cy="8229600"/>
          </a:xfrm>
          <a:custGeom>
            <a:avLst/>
            <a:gdLst/>
            <a:ahLst/>
            <a:cxnLst/>
            <a:rect r="r" b="b" t="t" l="l"/>
            <a:pathLst>
              <a:path h="8229600" w="8239900">
                <a:moveTo>
                  <a:pt x="0" y="0"/>
                </a:moveTo>
                <a:lnTo>
                  <a:pt x="8239900" y="0"/>
                </a:lnTo>
                <a:lnTo>
                  <a:pt x="8239900" y="8229600"/>
                </a:lnTo>
                <a:lnTo>
                  <a:pt x="0" y="8229600"/>
                </a:lnTo>
                <a:lnTo>
                  <a:pt x="0" y="0"/>
                </a:lnTo>
                <a:close/>
              </a:path>
            </a:pathLst>
          </a:custGeom>
          <a:blipFill>
            <a:blip r:embed="rId2"/>
            <a:stretch>
              <a:fillRect l="0" t="0" r="0" b="0"/>
            </a:stretch>
          </a:blipFill>
        </p:spPr>
      </p:sp>
      <p:sp>
        <p:nvSpPr>
          <p:cNvPr name="Freeform 12" id="12"/>
          <p:cNvSpPr/>
          <p:nvPr/>
        </p:nvSpPr>
        <p:spPr>
          <a:xfrm flipH="false" flipV="false" rot="0">
            <a:off x="-1386147" y="2319355"/>
            <a:ext cx="2249352" cy="1231009"/>
          </a:xfrm>
          <a:custGeom>
            <a:avLst/>
            <a:gdLst/>
            <a:ahLst/>
            <a:cxnLst/>
            <a:rect r="r" b="b" t="t" l="l"/>
            <a:pathLst>
              <a:path h="1231009" w="2249352">
                <a:moveTo>
                  <a:pt x="0" y="0"/>
                </a:moveTo>
                <a:lnTo>
                  <a:pt x="2249351" y="0"/>
                </a:lnTo>
                <a:lnTo>
                  <a:pt x="2249351" y="1231009"/>
                </a:lnTo>
                <a:lnTo>
                  <a:pt x="0" y="12310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445243" y="2319355"/>
            <a:ext cx="7277380" cy="6938945"/>
            <a:chOff x="0" y="0"/>
            <a:chExt cx="812800" cy="775001"/>
          </a:xfrm>
        </p:grpSpPr>
        <p:sp>
          <p:nvSpPr>
            <p:cNvPr name="Freeform 14" id="14"/>
            <p:cNvSpPr/>
            <p:nvPr/>
          </p:nvSpPr>
          <p:spPr>
            <a:xfrm flipH="false" flipV="false" rot="0">
              <a:off x="0" y="0"/>
              <a:ext cx="812800" cy="775001"/>
            </a:xfrm>
            <a:custGeom>
              <a:avLst/>
              <a:gdLst/>
              <a:ahLst/>
              <a:cxnLst/>
              <a:rect r="r" b="b" t="t" l="l"/>
              <a:pathLst>
                <a:path h="775001" w="812800">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FFFF"/>
            </a:solidFill>
          </p:spPr>
        </p:sp>
        <p:sp>
          <p:nvSpPr>
            <p:cNvPr name="TextBox 15" id="15"/>
            <p:cNvSpPr txBox="true"/>
            <p:nvPr/>
          </p:nvSpPr>
          <p:spPr>
            <a:xfrm>
              <a:off x="76200" y="15506"/>
              <a:ext cx="660400" cy="686838"/>
            </a:xfrm>
            <a:prstGeom prst="rect">
              <a:avLst/>
            </a:prstGeom>
          </p:spPr>
          <p:txBody>
            <a:bodyPr anchor="ctr" rtlCol="false" tIns="44922" lIns="44922" bIns="44922" rIns="44922"/>
            <a:lstStyle/>
            <a:p>
              <a:pPr algn="ctr">
                <a:lnSpc>
                  <a:spcPts val="2659"/>
                </a:lnSpc>
              </a:pPr>
            </a:p>
          </p:txBody>
        </p:sp>
      </p:grpSp>
      <p:sp>
        <p:nvSpPr>
          <p:cNvPr name="Freeform 16" id="16"/>
          <p:cNvSpPr/>
          <p:nvPr/>
        </p:nvSpPr>
        <p:spPr>
          <a:xfrm flipH="false" flipV="false" rot="0">
            <a:off x="1591121" y="2492818"/>
            <a:ext cx="7004674" cy="6572970"/>
          </a:xfrm>
          <a:custGeom>
            <a:avLst/>
            <a:gdLst/>
            <a:ahLst/>
            <a:cxnLst/>
            <a:rect r="r" b="b" t="t" l="l"/>
            <a:pathLst>
              <a:path h="6572970" w="7004674">
                <a:moveTo>
                  <a:pt x="0" y="0"/>
                </a:moveTo>
                <a:lnTo>
                  <a:pt x="7004673" y="0"/>
                </a:lnTo>
                <a:lnTo>
                  <a:pt x="7004673" y="6572969"/>
                </a:lnTo>
                <a:lnTo>
                  <a:pt x="0" y="6572969"/>
                </a:lnTo>
                <a:lnTo>
                  <a:pt x="0" y="0"/>
                </a:lnTo>
                <a:close/>
              </a:path>
            </a:pathLst>
          </a:custGeom>
          <a:blipFill>
            <a:blip r:embed="rId5"/>
            <a:stretch>
              <a:fillRect l="0" t="-1285" r="0" b="-1285"/>
            </a:stretch>
          </a:blipFill>
        </p:spPr>
      </p:sp>
      <p:sp>
        <p:nvSpPr>
          <p:cNvPr name="Freeform 17" id="17"/>
          <p:cNvSpPr/>
          <p:nvPr/>
        </p:nvSpPr>
        <p:spPr>
          <a:xfrm flipH="false" flipV="false" rot="3477770">
            <a:off x="5056692" y="7481852"/>
            <a:ext cx="4539987" cy="4307313"/>
          </a:xfrm>
          <a:custGeom>
            <a:avLst/>
            <a:gdLst/>
            <a:ahLst/>
            <a:cxnLst/>
            <a:rect r="r" b="b" t="t" l="l"/>
            <a:pathLst>
              <a:path h="4307313" w="4539987">
                <a:moveTo>
                  <a:pt x="0" y="0"/>
                </a:moveTo>
                <a:lnTo>
                  <a:pt x="4539987" y="0"/>
                </a:lnTo>
                <a:lnTo>
                  <a:pt x="4539987" y="4307313"/>
                </a:lnTo>
                <a:lnTo>
                  <a:pt x="0" y="4307313"/>
                </a:lnTo>
                <a:lnTo>
                  <a:pt x="0" y="0"/>
                </a:lnTo>
                <a:close/>
              </a:path>
            </a:pathLst>
          </a:custGeom>
          <a:blipFill>
            <a:blip r:embed="rId6"/>
            <a:stretch>
              <a:fillRect l="0" t="0" r="0" b="0"/>
            </a:stretch>
          </a:blipFill>
        </p:spPr>
      </p:sp>
      <p:sp>
        <p:nvSpPr>
          <p:cNvPr name="TextBox 18" id="18"/>
          <p:cNvSpPr txBox="true"/>
          <p:nvPr/>
        </p:nvSpPr>
        <p:spPr>
          <a:xfrm rot="0">
            <a:off x="11951749" y="1122903"/>
            <a:ext cx="927891" cy="358701"/>
          </a:xfrm>
          <a:prstGeom prst="rect">
            <a:avLst/>
          </a:prstGeom>
        </p:spPr>
        <p:txBody>
          <a:bodyPr anchor="t" rtlCol="false" tIns="0" lIns="0" bIns="0" rIns="0">
            <a:spAutoFit/>
          </a:bodyPr>
          <a:lstStyle/>
          <a:p>
            <a:pPr algn="ctr">
              <a:lnSpc>
                <a:spcPts val="2799"/>
              </a:lnSpc>
              <a:spcBef>
                <a:spcPct val="0"/>
              </a:spcBef>
            </a:pPr>
            <a:r>
              <a:rPr lang="en-US" b="true" sz="1999">
                <a:solidFill>
                  <a:srgbClr val="340808"/>
                </a:solidFill>
                <a:latin typeface="Poppins Bold"/>
                <a:ea typeface="Poppins Bold"/>
                <a:cs typeface="Poppins Bold"/>
                <a:sym typeface="Poppins Bold"/>
              </a:rPr>
              <a:t>Home</a:t>
            </a:r>
          </a:p>
        </p:txBody>
      </p:sp>
      <p:sp>
        <p:nvSpPr>
          <p:cNvPr name="TextBox 19" id="19"/>
          <p:cNvSpPr txBox="true"/>
          <p:nvPr/>
        </p:nvSpPr>
        <p:spPr>
          <a:xfrm rot="0">
            <a:off x="15818061" y="1122903"/>
            <a:ext cx="1441239" cy="358742"/>
          </a:xfrm>
          <a:prstGeom prst="rect">
            <a:avLst/>
          </a:prstGeom>
        </p:spPr>
        <p:txBody>
          <a:bodyPr anchor="t" rtlCol="false" tIns="0" lIns="0" bIns="0" rIns="0">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name="TextBox 20" id="20"/>
          <p:cNvSpPr txBox="true"/>
          <p:nvPr/>
        </p:nvSpPr>
        <p:spPr>
          <a:xfrm rot="0">
            <a:off x="9435462" y="1388385"/>
            <a:ext cx="7605830" cy="8832117"/>
          </a:xfrm>
          <a:prstGeom prst="rect">
            <a:avLst/>
          </a:prstGeom>
        </p:spPr>
        <p:txBody>
          <a:bodyPr anchor="t" rtlCol="false" tIns="0" lIns="0" bIns="0" rIns="0">
            <a:spAutoFit/>
          </a:bodyPr>
          <a:lstStyle/>
          <a:p>
            <a:pPr algn="l">
              <a:lnSpc>
                <a:spcPts val="3450"/>
              </a:lnSpc>
            </a:pPr>
            <a:r>
              <a:rPr lang="en-US" sz="2029">
                <a:solidFill>
                  <a:srgbClr val="FFFFFF">
                    <a:alpha val="80000"/>
                  </a:srgbClr>
                </a:solidFill>
                <a:latin typeface="Poppins"/>
                <a:ea typeface="Poppins"/>
                <a:cs typeface="Poppins"/>
                <a:sym typeface="Poppins"/>
              </a:rPr>
              <a:t>Based on the insights derived from the data, several actionable steps can be taken to boost pizza sales. First, more focus should be given to </a:t>
            </a:r>
            <a:r>
              <a:rPr lang="en-US" sz="2029" b="true">
                <a:solidFill>
                  <a:srgbClr val="FFFFFF">
                    <a:alpha val="80000"/>
                  </a:srgbClr>
                </a:solidFill>
                <a:latin typeface="Poppins Bold"/>
                <a:ea typeface="Poppins Bold"/>
                <a:cs typeface="Poppins Bold"/>
                <a:sym typeface="Poppins Bold"/>
              </a:rPr>
              <a:t>promoting the top-performing pizzas</a:t>
            </a:r>
            <a:r>
              <a:rPr lang="en-US" sz="2029">
                <a:solidFill>
                  <a:srgbClr val="FFFFFF">
                    <a:alpha val="80000"/>
                  </a:srgbClr>
                </a:solidFill>
                <a:latin typeface="Poppins"/>
                <a:ea typeface="Poppins"/>
                <a:cs typeface="Poppins"/>
                <a:sym typeface="Poppins"/>
              </a:rPr>
              <a:t>, especially the Classic Deluxe and Thai Chicken variants, through combo offers and upselling. Second, since orders are highest on </a:t>
            </a:r>
            <a:r>
              <a:rPr lang="en-US" sz="2029" b="true">
                <a:solidFill>
                  <a:srgbClr val="FFFFFF">
                    <a:alpha val="80000"/>
                  </a:srgbClr>
                </a:solidFill>
                <a:latin typeface="Poppins Bold"/>
                <a:ea typeface="Poppins Bold"/>
                <a:cs typeface="Poppins Bold"/>
                <a:sym typeface="Poppins Bold"/>
              </a:rPr>
              <a:t>Fridays and weekends</a:t>
            </a:r>
            <a:r>
              <a:rPr lang="en-US" sz="2029">
                <a:solidFill>
                  <a:srgbClr val="FFFFFF">
                    <a:alpha val="80000"/>
                  </a:srgbClr>
                </a:solidFill>
                <a:latin typeface="Poppins"/>
                <a:ea typeface="Poppins"/>
                <a:cs typeface="Poppins"/>
                <a:sym typeface="Poppins"/>
              </a:rPr>
              <a:t>, targeted marketing campaigns (like discounts or limited-time offers) can be run during these peak periods to further capitalize on demand. Third, </a:t>
            </a:r>
            <a:r>
              <a:rPr lang="en-US" sz="2029" b="true">
                <a:solidFill>
                  <a:srgbClr val="FFFFFF">
                    <a:alpha val="80000"/>
                  </a:srgbClr>
                </a:solidFill>
                <a:latin typeface="Poppins Bold"/>
                <a:ea typeface="Poppins Bold"/>
                <a:cs typeface="Poppins Bold"/>
                <a:sym typeface="Poppins Bold"/>
              </a:rPr>
              <a:t>underperforming pizzas</a:t>
            </a:r>
            <a:r>
              <a:rPr lang="en-US" sz="2029">
                <a:solidFill>
                  <a:srgbClr val="FFFFFF">
                    <a:alpha val="80000"/>
                  </a:srgbClr>
                </a:solidFill>
                <a:latin typeface="Poppins"/>
                <a:ea typeface="Poppins"/>
                <a:cs typeface="Poppins"/>
                <a:sym typeface="Poppins"/>
              </a:rPr>
              <a:t> such as the Brie Carre and Mediterranean should either be improved through customer feedback or removed to optimize the menu. Additionally, since</a:t>
            </a:r>
            <a:r>
              <a:rPr lang="en-US" sz="2029" b="true">
                <a:solidFill>
                  <a:srgbClr val="FFFFFF">
                    <a:alpha val="80000"/>
                  </a:srgbClr>
                </a:solidFill>
                <a:latin typeface="Poppins Bold"/>
                <a:ea typeface="Poppins Bold"/>
                <a:cs typeface="Poppins Bold"/>
                <a:sym typeface="Poppins Bold"/>
              </a:rPr>
              <a:t> large-sized pizzas</a:t>
            </a:r>
            <a:r>
              <a:rPr lang="en-US" sz="2029">
                <a:solidFill>
                  <a:srgbClr val="FFFFFF">
                    <a:alpha val="80000"/>
                  </a:srgbClr>
                </a:solidFill>
                <a:latin typeface="Poppins"/>
                <a:ea typeface="Poppins"/>
                <a:cs typeface="Poppins"/>
                <a:sym typeface="Poppins"/>
              </a:rPr>
              <a:t> drive the maximum revenue, bundle deals encouraging larger sizes can increase order value. Lastly, more awareness around the </a:t>
            </a:r>
            <a:r>
              <a:rPr lang="en-US" sz="2029" b="true">
                <a:solidFill>
                  <a:srgbClr val="FFFFFF">
                    <a:alpha val="80000"/>
                  </a:srgbClr>
                </a:solidFill>
                <a:latin typeface="Poppins Bold"/>
                <a:ea typeface="Poppins Bold"/>
                <a:cs typeface="Poppins Bold"/>
                <a:sym typeface="Poppins Bold"/>
              </a:rPr>
              <a:t>Classic category</a:t>
            </a:r>
            <a:r>
              <a:rPr lang="en-US" sz="2029">
                <a:solidFill>
                  <a:srgbClr val="FFFFFF">
                    <a:alpha val="80000"/>
                  </a:srgbClr>
                </a:solidFill>
                <a:latin typeface="Poppins"/>
                <a:ea typeface="Poppins"/>
                <a:cs typeface="Poppins"/>
                <a:sym typeface="Poppins"/>
              </a:rPr>
              <a:t> (which dominates in quantity and revenue) can be created to attract more repeat customers. These strategic moves, based on data-driven insights, can significantly enhance overall pizza sales and customer engagement.</a:t>
            </a:r>
          </a:p>
          <a:p>
            <a:pPr algn="l">
              <a:lnSpc>
                <a:spcPts val="172"/>
              </a:lnSpc>
            </a:pPr>
            <a:r>
              <a:rPr lang="en-US" sz="101">
                <a:solidFill>
                  <a:srgbClr val="FFFFFF">
                    <a:alpha val="80000"/>
                  </a:srgbClr>
                </a:solidFill>
                <a:latin typeface="Poppins"/>
                <a:ea typeface="Poppins"/>
                <a:cs typeface="Poppins"/>
                <a:sym typeface="Poppins"/>
              </a:rPr>
              <a:t> This end-to-end workflow showcases how powerful insights can be generated by combining backend data processing (SQL) with front-end visualization (Power BI), enabling better business decisions.</a:t>
            </a:r>
          </a:p>
        </p:txBody>
      </p:sp>
      <p:sp>
        <p:nvSpPr>
          <p:cNvPr name="TextBox 21" id="21"/>
          <p:cNvSpPr txBox="true"/>
          <p:nvPr/>
        </p:nvSpPr>
        <p:spPr>
          <a:xfrm rot="0">
            <a:off x="863204" y="477795"/>
            <a:ext cx="17397850" cy="1024891"/>
          </a:xfrm>
          <a:prstGeom prst="rect">
            <a:avLst/>
          </a:prstGeom>
        </p:spPr>
        <p:txBody>
          <a:bodyPr anchor="t" rtlCol="false" tIns="0" lIns="0" bIns="0" rIns="0">
            <a:spAutoFit/>
          </a:bodyPr>
          <a:lstStyle/>
          <a:p>
            <a:pPr algn="l" marL="0" indent="0" lvl="0">
              <a:lnSpc>
                <a:spcPts val="7680"/>
              </a:lnSpc>
              <a:spcBef>
                <a:spcPct val="0"/>
              </a:spcBef>
            </a:pPr>
            <a:r>
              <a:rPr lang="en-US" sz="8000">
                <a:solidFill>
                  <a:srgbClr val="FFB000"/>
                </a:solidFill>
                <a:latin typeface="Anton"/>
                <a:ea typeface="Anton"/>
                <a:cs typeface="Anton"/>
                <a:sym typeface="Anton"/>
              </a:rPr>
              <a:t>STEPS TO BE TAKEN TO INCREASE PIZZA SALES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40808">
                <a:alpha val="100000"/>
              </a:srgbClr>
            </a:gs>
            <a:gs pos="100000">
              <a:srgbClr val="10020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958748" y="-4415216"/>
            <a:ext cx="13673516" cy="136735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40808">
                    <a:alpha val="100000"/>
                  </a:srgbClr>
                </a:gs>
                <a:gs pos="100000">
                  <a:srgbClr val="100202">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5818061" y="92583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1220652" y="5143500"/>
            <a:ext cx="2249352" cy="1231009"/>
          </a:xfrm>
          <a:custGeom>
            <a:avLst/>
            <a:gdLst/>
            <a:ahLst/>
            <a:cxnLst/>
            <a:rect r="r" b="b" t="t" l="l"/>
            <a:pathLst>
              <a:path h="1231009" w="2249352">
                <a:moveTo>
                  <a:pt x="0" y="0"/>
                </a:moveTo>
                <a:lnTo>
                  <a:pt x="2249352" y="0"/>
                </a:lnTo>
                <a:lnTo>
                  <a:pt x="2249352" y="1231009"/>
                </a:lnTo>
                <a:lnTo>
                  <a:pt x="0" y="123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163324" y="4399744"/>
            <a:ext cx="2249352" cy="1231009"/>
          </a:xfrm>
          <a:custGeom>
            <a:avLst/>
            <a:gdLst/>
            <a:ahLst/>
            <a:cxnLst/>
            <a:rect r="r" b="b" t="t" l="l"/>
            <a:pathLst>
              <a:path h="1231009" w="2249352">
                <a:moveTo>
                  <a:pt x="0" y="0"/>
                </a:moveTo>
                <a:lnTo>
                  <a:pt x="2249352" y="0"/>
                </a:lnTo>
                <a:lnTo>
                  <a:pt x="2249352" y="1231009"/>
                </a:lnTo>
                <a:lnTo>
                  <a:pt x="0" y="1231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691087">
            <a:off x="7175853" y="-2153656"/>
            <a:ext cx="4539987" cy="4307313"/>
          </a:xfrm>
          <a:custGeom>
            <a:avLst/>
            <a:gdLst/>
            <a:ahLst/>
            <a:cxnLst/>
            <a:rect r="r" b="b" t="t" l="l"/>
            <a:pathLst>
              <a:path h="4307313" w="4539987">
                <a:moveTo>
                  <a:pt x="0" y="0"/>
                </a:moveTo>
                <a:lnTo>
                  <a:pt x="4539987" y="0"/>
                </a:lnTo>
                <a:lnTo>
                  <a:pt x="4539987" y="4307312"/>
                </a:lnTo>
                <a:lnTo>
                  <a:pt x="0" y="4307312"/>
                </a:lnTo>
                <a:lnTo>
                  <a:pt x="0" y="0"/>
                </a:lnTo>
                <a:close/>
              </a:path>
            </a:pathLst>
          </a:custGeom>
          <a:blipFill>
            <a:blip r:embed="rId4"/>
            <a:stretch>
              <a:fillRect l="0" t="0" r="0" b="0"/>
            </a:stretch>
          </a:blipFill>
        </p:spPr>
      </p:sp>
      <p:sp>
        <p:nvSpPr>
          <p:cNvPr name="TextBox 11" id="11"/>
          <p:cNvSpPr txBox="true"/>
          <p:nvPr/>
        </p:nvSpPr>
        <p:spPr>
          <a:xfrm rot="0">
            <a:off x="1365432" y="3473966"/>
            <a:ext cx="15506772" cy="3749316"/>
          </a:xfrm>
          <a:prstGeom prst="rect">
            <a:avLst/>
          </a:prstGeom>
        </p:spPr>
        <p:txBody>
          <a:bodyPr anchor="t" rtlCol="false" tIns="0" lIns="0" bIns="0" rIns="0">
            <a:spAutoFit/>
          </a:bodyPr>
          <a:lstStyle/>
          <a:p>
            <a:pPr algn="l">
              <a:lnSpc>
                <a:spcPts val="27984"/>
              </a:lnSpc>
            </a:pPr>
            <a:r>
              <a:rPr lang="en-US" sz="29150">
                <a:solidFill>
                  <a:srgbClr val="FFB000"/>
                </a:solidFill>
                <a:latin typeface="Anton"/>
                <a:ea typeface="Anton"/>
                <a:cs typeface="Anton"/>
                <a:sym typeface="Anton"/>
              </a:rPr>
              <a:t>THANK YOU</a:t>
            </a:r>
          </a:p>
        </p:txBody>
      </p:sp>
      <p:sp>
        <p:nvSpPr>
          <p:cNvPr name="TextBox 12" id="12"/>
          <p:cNvSpPr txBox="true"/>
          <p:nvPr/>
        </p:nvSpPr>
        <p:spPr>
          <a:xfrm rot="0">
            <a:off x="5029522" y="7227429"/>
            <a:ext cx="6821859" cy="1180168"/>
          </a:xfrm>
          <a:prstGeom prst="rect">
            <a:avLst/>
          </a:prstGeom>
        </p:spPr>
        <p:txBody>
          <a:bodyPr anchor="t" rtlCol="false" tIns="0" lIns="0" bIns="0" rIns="0">
            <a:spAutoFit/>
          </a:bodyPr>
          <a:lstStyle/>
          <a:p>
            <a:pPr algn="l">
              <a:lnSpc>
                <a:spcPts val="8806"/>
              </a:lnSpc>
            </a:pPr>
            <a:r>
              <a:rPr lang="en-US" sz="9173">
                <a:solidFill>
                  <a:srgbClr val="FFFFFF"/>
                </a:solidFill>
                <a:latin typeface="Anton"/>
                <a:ea typeface="Anton"/>
                <a:cs typeface="Anton"/>
                <a:sym typeface="Anton"/>
              </a:rPr>
              <a:t>FOR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DAGoPZzm71o</dc:identifier>
  <dcterms:modified xsi:type="dcterms:W3CDTF">2011-08-01T06:04:30Z</dcterms:modified>
  <cp:revision>1</cp:revision>
  <dc:title>Brown Yellow Modern Bold Pizza Restaurant Presentation</dc:title>
</cp:coreProperties>
</file>